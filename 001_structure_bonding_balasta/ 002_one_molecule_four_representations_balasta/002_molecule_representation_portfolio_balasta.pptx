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53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3100" y="7042266"/>
            <a:ext cx="1056639" cy="150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659154" y="7042266"/>
            <a:ext cx="1094104" cy="150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01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01965" algn="l"/>
                        </a:tabLst>
                      </a:pPr>
                      <a:r>
                        <a:rPr sz="3000" b="1" spc="-15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Propane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FOUNDATION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853376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6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7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propane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30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30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3300" b="1" spc="-30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30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175" baseline="-957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99182" y="1523999"/>
            <a:ext cx="11830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000" b="1" spc="-2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3975" b="1" spc="-30" baseline="-16771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4000" b="1" spc="-2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3975" b="1" spc="-30" baseline="-16771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endParaRPr sz="3975" baseline="-16771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70360" y="2092310"/>
            <a:ext cx="1862455" cy="694055"/>
          </a:xfrm>
          <a:custGeom>
            <a:avLst/>
            <a:gdLst/>
            <a:ahLst/>
            <a:cxnLst/>
            <a:rect l="l" t="t" r="r" b="b"/>
            <a:pathLst>
              <a:path w="1862454" h="694055">
                <a:moveTo>
                  <a:pt x="435863" y="346963"/>
                </a:moveTo>
                <a:lnTo>
                  <a:pt x="842263" y="346963"/>
                </a:lnTo>
              </a:path>
              <a:path w="1862454" h="694055">
                <a:moveTo>
                  <a:pt x="1020063" y="346963"/>
                </a:moveTo>
                <a:lnTo>
                  <a:pt x="1426463" y="346963"/>
                </a:lnTo>
              </a:path>
              <a:path w="1862454" h="694055">
                <a:moveTo>
                  <a:pt x="258063" y="346963"/>
                </a:moveTo>
                <a:lnTo>
                  <a:pt x="0" y="346963"/>
                </a:lnTo>
              </a:path>
              <a:path w="1862454" h="694055">
                <a:moveTo>
                  <a:pt x="346963" y="435863"/>
                </a:moveTo>
                <a:lnTo>
                  <a:pt x="346963" y="693927"/>
                </a:lnTo>
              </a:path>
              <a:path w="1862454" h="694055">
                <a:moveTo>
                  <a:pt x="346963" y="258063"/>
                </a:moveTo>
                <a:lnTo>
                  <a:pt x="346963" y="0"/>
                </a:lnTo>
              </a:path>
              <a:path w="1862454" h="694055">
                <a:moveTo>
                  <a:pt x="931163" y="435863"/>
                </a:moveTo>
                <a:lnTo>
                  <a:pt x="931163" y="693927"/>
                </a:lnTo>
              </a:path>
              <a:path w="1862454" h="694055">
                <a:moveTo>
                  <a:pt x="931163" y="258063"/>
                </a:moveTo>
                <a:lnTo>
                  <a:pt x="931163" y="0"/>
                </a:lnTo>
              </a:path>
              <a:path w="1862454" h="694055">
                <a:moveTo>
                  <a:pt x="1604263" y="346963"/>
                </a:moveTo>
                <a:lnTo>
                  <a:pt x="1862327" y="346963"/>
                </a:lnTo>
              </a:path>
              <a:path w="1862454" h="694055">
                <a:moveTo>
                  <a:pt x="1515363" y="435863"/>
                </a:moveTo>
                <a:lnTo>
                  <a:pt x="1515363" y="693927"/>
                </a:lnTo>
              </a:path>
              <a:path w="1862454" h="694055">
                <a:moveTo>
                  <a:pt x="1515363" y="258063"/>
                </a:moveTo>
                <a:lnTo>
                  <a:pt x="1515363" y="0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262308" y="190841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46508" y="190841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30708" y="190841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41683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623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465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307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51332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0390" y="2498089"/>
          <a:ext cx="4411978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3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7262308" y="274966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46508" y="274966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30708" y="274966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22600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53728" y="3495275"/>
            <a:ext cx="3274060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20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20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10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0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0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61054" y="3668240"/>
            <a:ext cx="469455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valence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electron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in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bond.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shown;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5370" y="3959069"/>
            <a:ext cx="5032375" cy="2907665"/>
            <a:chOff x="5385370" y="3959069"/>
            <a:chExt cx="5032375" cy="290766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30110" y="4866549"/>
            <a:ext cx="2133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2925" baseline="-17094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21147" y="6282379"/>
            <a:ext cx="315214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Each carbon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written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 the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hydrogens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attached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to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it.</a:t>
            </a:r>
            <a:endParaRPr sz="8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42" name="object 42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43" name="object 43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4" name="object 44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01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59" name="object 49">
            <a:extLst>
              <a:ext uri="{FF2B5EF4-FFF2-40B4-BE49-F238E27FC236}">
                <a16:creationId xmlns:a16="http://schemas.microsoft.com/office/drawing/2014/main" id="{10499586-CAC1-0B38-FD33-DAD55250A6CB}"/>
              </a:ext>
            </a:extLst>
          </p:cNvPr>
          <p:cNvSpPr/>
          <p:nvPr/>
        </p:nvSpPr>
        <p:spPr>
          <a:xfrm>
            <a:off x="5096091" y="707821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BB7AAF90-2FA4-A681-E2D5-0254AD4A4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69" y="5322413"/>
            <a:ext cx="714375" cy="25717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02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01965" algn="l"/>
                        </a:tabLst>
                      </a:pPr>
                      <a:r>
                        <a:rPr sz="3000" b="1" spc="-15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Ethanol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FOUNDATION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831659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6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7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ethanol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3300" baseline="5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01570" y="1523999"/>
            <a:ext cx="1577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6</a:t>
            </a: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70360" y="2092310"/>
            <a:ext cx="1862455" cy="694055"/>
          </a:xfrm>
          <a:custGeom>
            <a:avLst/>
            <a:gdLst/>
            <a:ahLst/>
            <a:cxnLst/>
            <a:rect l="l" t="t" r="r" b="b"/>
            <a:pathLst>
              <a:path w="1862454" h="694055">
                <a:moveTo>
                  <a:pt x="435863" y="346963"/>
                </a:moveTo>
                <a:lnTo>
                  <a:pt x="842263" y="346963"/>
                </a:lnTo>
              </a:path>
              <a:path w="1862454" h="694055">
                <a:moveTo>
                  <a:pt x="1020063" y="346963"/>
                </a:moveTo>
                <a:lnTo>
                  <a:pt x="1426463" y="346963"/>
                </a:lnTo>
              </a:path>
              <a:path w="1862454" h="694055">
                <a:moveTo>
                  <a:pt x="258063" y="346963"/>
                </a:moveTo>
                <a:lnTo>
                  <a:pt x="0" y="346963"/>
                </a:lnTo>
              </a:path>
              <a:path w="1862454" h="694055">
                <a:moveTo>
                  <a:pt x="346963" y="435863"/>
                </a:moveTo>
                <a:lnTo>
                  <a:pt x="346963" y="693927"/>
                </a:lnTo>
              </a:path>
              <a:path w="1862454" h="694055">
                <a:moveTo>
                  <a:pt x="346963" y="258063"/>
                </a:moveTo>
                <a:lnTo>
                  <a:pt x="346963" y="0"/>
                </a:lnTo>
              </a:path>
              <a:path w="1862454" h="694055">
                <a:moveTo>
                  <a:pt x="931163" y="435863"/>
                </a:moveTo>
                <a:lnTo>
                  <a:pt x="931163" y="693927"/>
                </a:lnTo>
              </a:path>
              <a:path w="1862454" h="694055">
                <a:moveTo>
                  <a:pt x="931163" y="258063"/>
                </a:moveTo>
                <a:lnTo>
                  <a:pt x="931163" y="0"/>
                </a:lnTo>
              </a:path>
              <a:path w="1862454" h="694055">
                <a:moveTo>
                  <a:pt x="1604263" y="346963"/>
                </a:moveTo>
                <a:lnTo>
                  <a:pt x="1862327" y="346963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262308" y="190841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46508" y="190841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41683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623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465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426441" y="2329038"/>
            <a:ext cx="548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481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439366" y="2304028"/>
            <a:ext cx="92710" cy="270510"/>
          </a:xfrm>
          <a:custGeom>
            <a:avLst/>
            <a:gdLst/>
            <a:ahLst/>
            <a:cxnLst/>
            <a:rect l="l" t="t" r="r" b="b"/>
            <a:pathLst>
              <a:path w="92709" h="270510">
                <a:moveTo>
                  <a:pt x="31750" y="245859"/>
                </a:moveTo>
                <a:lnTo>
                  <a:pt x="24638" y="238760"/>
                </a:lnTo>
                <a:lnTo>
                  <a:pt x="7112" y="238760"/>
                </a:lnTo>
                <a:lnTo>
                  <a:pt x="0" y="245859"/>
                </a:lnTo>
                <a:lnTo>
                  <a:pt x="0" y="263398"/>
                </a:lnTo>
                <a:lnTo>
                  <a:pt x="7112" y="270510"/>
                </a:lnTo>
                <a:lnTo>
                  <a:pt x="24638" y="270510"/>
                </a:lnTo>
                <a:lnTo>
                  <a:pt x="31750" y="263398"/>
                </a:lnTo>
                <a:lnTo>
                  <a:pt x="31750" y="254635"/>
                </a:lnTo>
                <a:lnTo>
                  <a:pt x="31750" y="245859"/>
                </a:lnTo>
                <a:close/>
              </a:path>
              <a:path w="92709" h="270510">
                <a:moveTo>
                  <a:pt x="31750" y="7099"/>
                </a:moveTo>
                <a:lnTo>
                  <a:pt x="24638" y="0"/>
                </a:lnTo>
                <a:lnTo>
                  <a:pt x="7112" y="0"/>
                </a:lnTo>
                <a:lnTo>
                  <a:pt x="0" y="7099"/>
                </a:lnTo>
                <a:lnTo>
                  <a:pt x="0" y="24638"/>
                </a:lnTo>
                <a:lnTo>
                  <a:pt x="7112" y="31750"/>
                </a:lnTo>
                <a:lnTo>
                  <a:pt x="24638" y="31750"/>
                </a:lnTo>
                <a:lnTo>
                  <a:pt x="31750" y="24638"/>
                </a:lnTo>
                <a:lnTo>
                  <a:pt x="31750" y="15875"/>
                </a:lnTo>
                <a:lnTo>
                  <a:pt x="31750" y="7099"/>
                </a:lnTo>
                <a:close/>
              </a:path>
              <a:path w="92709" h="270510">
                <a:moveTo>
                  <a:pt x="92710" y="245859"/>
                </a:moveTo>
                <a:lnTo>
                  <a:pt x="85598" y="238760"/>
                </a:lnTo>
                <a:lnTo>
                  <a:pt x="68072" y="238760"/>
                </a:lnTo>
                <a:lnTo>
                  <a:pt x="60960" y="245859"/>
                </a:lnTo>
                <a:lnTo>
                  <a:pt x="60960" y="263398"/>
                </a:lnTo>
                <a:lnTo>
                  <a:pt x="68072" y="270510"/>
                </a:lnTo>
                <a:lnTo>
                  <a:pt x="85598" y="270510"/>
                </a:lnTo>
                <a:lnTo>
                  <a:pt x="92710" y="263398"/>
                </a:lnTo>
                <a:lnTo>
                  <a:pt x="92710" y="254635"/>
                </a:lnTo>
                <a:lnTo>
                  <a:pt x="92710" y="245859"/>
                </a:lnTo>
                <a:close/>
              </a:path>
              <a:path w="92709" h="270510">
                <a:moveTo>
                  <a:pt x="92710" y="7099"/>
                </a:moveTo>
                <a:lnTo>
                  <a:pt x="85598" y="0"/>
                </a:lnTo>
                <a:lnTo>
                  <a:pt x="68072" y="0"/>
                </a:lnTo>
                <a:lnTo>
                  <a:pt x="60960" y="7099"/>
                </a:lnTo>
                <a:lnTo>
                  <a:pt x="60960" y="24638"/>
                </a:lnTo>
                <a:lnTo>
                  <a:pt x="68072" y="31750"/>
                </a:lnTo>
                <a:lnTo>
                  <a:pt x="85598" y="31750"/>
                </a:lnTo>
                <a:lnTo>
                  <a:pt x="92710" y="24638"/>
                </a:lnTo>
                <a:lnTo>
                  <a:pt x="92710" y="15875"/>
                </a:lnTo>
                <a:lnTo>
                  <a:pt x="92710" y="7099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0390" y="2498089"/>
          <a:ext cx="4415789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7262308" y="274966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46508" y="274966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87828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84091" y="3495275"/>
            <a:ext cx="3213735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20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16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4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02759" y="3668240"/>
            <a:ext cx="421068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Dots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=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are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neutral: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5370" y="3959069"/>
            <a:ext cx="5032375" cy="2907665"/>
            <a:chOff x="5385370" y="3959069"/>
            <a:chExt cx="5032375" cy="290766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89348" y="4866549"/>
            <a:ext cx="20154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OH</a:t>
            </a:r>
            <a:endParaRPr sz="3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63333" y="6282379"/>
            <a:ext cx="366776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Each carbon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written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its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hydrogens; the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hydroxyl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group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kept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OH.</a:t>
            </a:r>
            <a:endParaRPr sz="8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41" name="object 41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lang="en-PH"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PH"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02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55" name="object 49">
            <a:extLst>
              <a:ext uri="{FF2B5EF4-FFF2-40B4-BE49-F238E27FC236}">
                <a16:creationId xmlns:a16="http://schemas.microsoft.com/office/drawing/2014/main" id="{03847115-53B2-9AD6-4533-B2AA7AAAA58D}"/>
              </a:ext>
            </a:extLst>
          </p:cNvPr>
          <p:cNvSpPr/>
          <p:nvPr/>
        </p:nvSpPr>
        <p:spPr>
          <a:xfrm>
            <a:off x="5096091" y="7078211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01C25C25-769F-D1FB-BF0A-2E1B22C42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476" y="5294967"/>
            <a:ext cx="857250" cy="31432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03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01965" algn="l"/>
                        </a:tabLst>
                      </a:pPr>
                      <a:r>
                        <a:rPr sz="3000" b="1" spc="-15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Acetone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FOUNDATION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831659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10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10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propan-2-</a:t>
                      </a:r>
                      <a:r>
                        <a:rPr sz="850" spc="-2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3300" baseline="5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3746" y="1798319"/>
            <a:ext cx="76517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5785" algn="l"/>
              </a:tabLst>
            </a:pP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2650" b="1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6</a:t>
            </a:r>
            <a:endParaRPr sz="2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6970" y="1523999"/>
            <a:ext cx="15271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4000" b="1" spc="3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4000" b="1" spc="3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4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970360" y="2025762"/>
            <a:ext cx="1862455" cy="842644"/>
          </a:xfrm>
          <a:custGeom>
            <a:avLst/>
            <a:gdLst/>
            <a:ahLst/>
            <a:cxnLst/>
            <a:rect l="l" t="t" r="r" b="b"/>
            <a:pathLst>
              <a:path w="1862454" h="842644">
                <a:moveTo>
                  <a:pt x="435863" y="495300"/>
                </a:moveTo>
                <a:lnTo>
                  <a:pt x="842263" y="495300"/>
                </a:lnTo>
              </a:path>
              <a:path w="1862454" h="842644">
                <a:moveTo>
                  <a:pt x="1020063" y="495300"/>
                </a:moveTo>
                <a:lnTo>
                  <a:pt x="1426463" y="495300"/>
                </a:lnTo>
              </a:path>
              <a:path w="1862454" h="842644">
                <a:moveTo>
                  <a:pt x="957833" y="406400"/>
                </a:moveTo>
                <a:lnTo>
                  <a:pt x="957833" y="0"/>
                </a:lnTo>
              </a:path>
              <a:path w="1862454" h="842644">
                <a:moveTo>
                  <a:pt x="904494" y="406400"/>
                </a:moveTo>
                <a:lnTo>
                  <a:pt x="904494" y="0"/>
                </a:lnTo>
              </a:path>
              <a:path w="1862454" h="842644">
                <a:moveTo>
                  <a:pt x="258063" y="495300"/>
                </a:moveTo>
                <a:lnTo>
                  <a:pt x="0" y="495300"/>
                </a:lnTo>
              </a:path>
              <a:path w="1862454" h="842644">
                <a:moveTo>
                  <a:pt x="346963" y="584200"/>
                </a:moveTo>
                <a:lnTo>
                  <a:pt x="346963" y="842263"/>
                </a:lnTo>
              </a:path>
              <a:path w="1862454" h="842644">
                <a:moveTo>
                  <a:pt x="346963" y="406400"/>
                </a:moveTo>
                <a:lnTo>
                  <a:pt x="346963" y="148336"/>
                </a:lnTo>
              </a:path>
              <a:path w="1862454" h="842644">
                <a:moveTo>
                  <a:pt x="1604263" y="495300"/>
                </a:moveTo>
                <a:lnTo>
                  <a:pt x="1862327" y="495300"/>
                </a:lnTo>
              </a:path>
              <a:path w="1862454" h="842644">
                <a:moveTo>
                  <a:pt x="1515363" y="584200"/>
                </a:moveTo>
                <a:lnTo>
                  <a:pt x="1515363" y="842263"/>
                </a:lnTo>
              </a:path>
              <a:path w="1862454" h="842644">
                <a:moveTo>
                  <a:pt x="1515363" y="406400"/>
                </a:moveTo>
                <a:lnTo>
                  <a:pt x="1515363" y="148336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842241" y="1826626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767015" y="1834902"/>
            <a:ext cx="269240" cy="85090"/>
          </a:xfrm>
          <a:custGeom>
            <a:avLst/>
            <a:gdLst/>
            <a:ahLst/>
            <a:cxnLst/>
            <a:rect l="l" t="t" r="r" b="b"/>
            <a:pathLst>
              <a:path w="269240" h="85089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269240" h="85089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269240" h="85089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269240" h="85089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2623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307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41683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623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465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307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51332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80390" y="2498089"/>
          <a:ext cx="4415789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72623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307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87828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53728" y="3495275"/>
            <a:ext cx="3274060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24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20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10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4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02759" y="3668240"/>
            <a:ext cx="421068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Dots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=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are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neutral: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90450" y="3964149"/>
            <a:ext cx="5022215" cy="2897505"/>
            <a:chOff x="5390450" y="3964149"/>
            <a:chExt cx="5022215" cy="289750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51223" y="4866549"/>
            <a:ext cx="24917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C(=O)CH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2925" baseline="-17094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9570" y="6282379"/>
            <a:ext cx="437515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(=O) is an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oxygen double-bonded to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 carbon written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just before it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(the carbonyl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carbon).</a:t>
            </a:r>
            <a:endParaRPr sz="8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43" name="object 43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44" name="object 44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03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C7F8D31C-8293-2B65-603B-FD521793A3D1}"/>
              </a:ext>
            </a:extLst>
          </p:cNvPr>
          <p:cNvSpPr/>
          <p:nvPr/>
        </p:nvSpPr>
        <p:spPr>
          <a:xfrm>
            <a:off x="5096091" y="707821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C004AE0-F3D3-C00C-9BC0-5D6AE7588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69" y="5092427"/>
            <a:ext cx="714375" cy="69532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04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12759" algn="l"/>
                        </a:tabLst>
                      </a:pP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Acetic </a:t>
                      </a:r>
                      <a:r>
                        <a:rPr sz="3000" b="1" spc="-30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acid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DEVELOPING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821372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7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8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ethanoic</a:t>
                      </a:r>
                      <a:r>
                        <a:rPr sz="850" spc="8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acid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175" baseline="-957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33762" y="1523999"/>
            <a:ext cx="15271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4000" b="1" spc="3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4000" b="1" spc="3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00539" y="1798319"/>
            <a:ext cx="134683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5785" algn="l"/>
                <a:tab pos="1147445" algn="l"/>
              </a:tabLst>
            </a:pP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4</a:t>
            </a:r>
            <a:r>
              <a:rPr sz="2650" b="1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endParaRPr sz="2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970360" y="2025762"/>
            <a:ext cx="1862455" cy="842644"/>
          </a:xfrm>
          <a:custGeom>
            <a:avLst/>
            <a:gdLst/>
            <a:ahLst/>
            <a:cxnLst/>
            <a:rect l="l" t="t" r="r" b="b"/>
            <a:pathLst>
              <a:path w="1862454" h="842644">
                <a:moveTo>
                  <a:pt x="435863" y="495300"/>
                </a:moveTo>
                <a:lnTo>
                  <a:pt x="842263" y="495300"/>
                </a:lnTo>
              </a:path>
              <a:path w="1862454" h="842644">
                <a:moveTo>
                  <a:pt x="957833" y="406400"/>
                </a:moveTo>
                <a:lnTo>
                  <a:pt x="957833" y="0"/>
                </a:lnTo>
              </a:path>
              <a:path w="1862454" h="842644">
                <a:moveTo>
                  <a:pt x="904494" y="406400"/>
                </a:moveTo>
                <a:lnTo>
                  <a:pt x="904494" y="0"/>
                </a:lnTo>
              </a:path>
              <a:path w="1862454" h="842644">
                <a:moveTo>
                  <a:pt x="1020063" y="495300"/>
                </a:moveTo>
                <a:lnTo>
                  <a:pt x="1426463" y="495300"/>
                </a:lnTo>
              </a:path>
              <a:path w="1862454" h="842644">
                <a:moveTo>
                  <a:pt x="258063" y="495300"/>
                </a:moveTo>
                <a:lnTo>
                  <a:pt x="0" y="495300"/>
                </a:lnTo>
              </a:path>
              <a:path w="1862454" h="842644">
                <a:moveTo>
                  <a:pt x="346963" y="584200"/>
                </a:moveTo>
                <a:lnTo>
                  <a:pt x="346963" y="842263"/>
                </a:lnTo>
              </a:path>
              <a:path w="1862454" h="842644">
                <a:moveTo>
                  <a:pt x="346963" y="406400"/>
                </a:moveTo>
                <a:lnTo>
                  <a:pt x="346963" y="148336"/>
                </a:lnTo>
              </a:path>
              <a:path w="1862454" h="842644">
                <a:moveTo>
                  <a:pt x="1604263" y="495300"/>
                </a:moveTo>
                <a:lnTo>
                  <a:pt x="1862327" y="495300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842241" y="1826626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623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41683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623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465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426441" y="2410826"/>
            <a:ext cx="548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481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67015" y="1834902"/>
            <a:ext cx="765175" cy="821690"/>
          </a:xfrm>
          <a:custGeom>
            <a:avLst/>
            <a:gdLst/>
            <a:ahLst/>
            <a:cxnLst/>
            <a:rect l="l" t="t" r="r" b="b"/>
            <a:pathLst>
              <a:path w="765175" h="821689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765175" h="821689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765175" h="821689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765175" h="821689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  <a:path w="765175" h="821689">
                <a:moveTo>
                  <a:pt x="704100" y="796772"/>
                </a:moveTo>
                <a:lnTo>
                  <a:pt x="696988" y="789673"/>
                </a:lnTo>
                <a:lnTo>
                  <a:pt x="679462" y="789673"/>
                </a:lnTo>
                <a:lnTo>
                  <a:pt x="672350" y="796772"/>
                </a:lnTo>
                <a:lnTo>
                  <a:pt x="672350" y="814311"/>
                </a:lnTo>
                <a:lnTo>
                  <a:pt x="679462" y="821423"/>
                </a:lnTo>
                <a:lnTo>
                  <a:pt x="696988" y="821423"/>
                </a:lnTo>
                <a:lnTo>
                  <a:pt x="704100" y="814311"/>
                </a:lnTo>
                <a:lnTo>
                  <a:pt x="704100" y="805548"/>
                </a:lnTo>
                <a:lnTo>
                  <a:pt x="704100" y="796772"/>
                </a:lnTo>
                <a:close/>
              </a:path>
              <a:path w="765175" h="821689">
                <a:moveTo>
                  <a:pt x="704100" y="558012"/>
                </a:moveTo>
                <a:lnTo>
                  <a:pt x="696988" y="550913"/>
                </a:lnTo>
                <a:lnTo>
                  <a:pt x="679462" y="550913"/>
                </a:lnTo>
                <a:lnTo>
                  <a:pt x="672350" y="558012"/>
                </a:lnTo>
                <a:lnTo>
                  <a:pt x="672350" y="575551"/>
                </a:lnTo>
                <a:lnTo>
                  <a:pt x="679462" y="582663"/>
                </a:lnTo>
                <a:lnTo>
                  <a:pt x="696988" y="582663"/>
                </a:lnTo>
                <a:lnTo>
                  <a:pt x="704100" y="575551"/>
                </a:lnTo>
                <a:lnTo>
                  <a:pt x="704100" y="566788"/>
                </a:lnTo>
                <a:lnTo>
                  <a:pt x="704100" y="558012"/>
                </a:lnTo>
                <a:close/>
              </a:path>
              <a:path w="765175" h="821689">
                <a:moveTo>
                  <a:pt x="765060" y="796772"/>
                </a:moveTo>
                <a:lnTo>
                  <a:pt x="757948" y="789673"/>
                </a:lnTo>
                <a:lnTo>
                  <a:pt x="740422" y="789673"/>
                </a:lnTo>
                <a:lnTo>
                  <a:pt x="733310" y="796772"/>
                </a:lnTo>
                <a:lnTo>
                  <a:pt x="733310" y="814311"/>
                </a:lnTo>
                <a:lnTo>
                  <a:pt x="740422" y="821423"/>
                </a:lnTo>
                <a:lnTo>
                  <a:pt x="757948" y="821423"/>
                </a:lnTo>
                <a:lnTo>
                  <a:pt x="765060" y="814311"/>
                </a:lnTo>
                <a:lnTo>
                  <a:pt x="765060" y="805548"/>
                </a:lnTo>
                <a:lnTo>
                  <a:pt x="765060" y="796772"/>
                </a:lnTo>
                <a:close/>
              </a:path>
              <a:path w="765175" h="821689">
                <a:moveTo>
                  <a:pt x="765060" y="558012"/>
                </a:moveTo>
                <a:lnTo>
                  <a:pt x="757948" y="550913"/>
                </a:lnTo>
                <a:lnTo>
                  <a:pt x="740422" y="550913"/>
                </a:lnTo>
                <a:lnTo>
                  <a:pt x="733310" y="558012"/>
                </a:lnTo>
                <a:lnTo>
                  <a:pt x="733310" y="575551"/>
                </a:lnTo>
                <a:lnTo>
                  <a:pt x="740422" y="582663"/>
                </a:lnTo>
                <a:lnTo>
                  <a:pt x="757948" y="582663"/>
                </a:lnTo>
                <a:lnTo>
                  <a:pt x="765060" y="575551"/>
                </a:lnTo>
                <a:lnTo>
                  <a:pt x="765060" y="566788"/>
                </a:lnTo>
                <a:lnTo>
                  <a:pt x="765060" y="558012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80390" y="2498089"/>
          <a:ext cx="4415789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72623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87828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84091" y="3495275"/>
            <a:ext cx="3213735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24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16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8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4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02759" y="3668240"/>
            <a:ext cx="421068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Dots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=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are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neutral: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5370" y="3959069"/>
            <a:ext cx="5032375" cy="2907665"/>
            <a:chOff x="5385370" y="3959069"/>
            <a:chExt cx="5032375" cy="290766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461" y="4866549"/>
            <a:ext cx="23729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C(=O)OH</a:t>
            </a:r>
            <a:endParaRPr sz="3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3255" y="6282379"/>
            <a:ext cx="410781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(=O)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is the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carbonyl oxygen; the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final OH is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 hydroxyl of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 carboxylic acid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group.</a:t>
            </a:r>
            <a:endParaRPr sz="8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41" name="object 41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04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55" name="object 49">
            <a:extLst>
              <a:ext uri="{FF2B5EF4-FFF2-40B4-BE49-F238E27FC236}">
                <a16:creationId xmlns:a16="http://schemas.microsoft.com/office/drawing/2014/main" id="{4B2A4CEF-4080-2E42-0838-47555129C5A1}"/>
              </a:ext>
            </a:extLst>
          </p:cNvPr>
          <p:cNvSpPr/>
          <p:nvPr/>
        </p:nvSpPr>
        <p:spPr>
          <a:xfrm>
            <a:off x="5096091" y="7078211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D45A6E3F-D978-1EFE-B7F3-CA9D7D4C5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932" y="5072486"/>
            <a:ext cx="857250" cy="75247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05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12759" algn="l"/>
                        </a:tabLst>
                      </a:pP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Ethyl </a:t>
                      </a:r>
                      <a:r>
                        <a:rPr sz="3000" b="1" spc="-15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acetate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DEVELOPING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821372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6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6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ethyl</a:t>
                      </a:r>
                      <a:r>
                        <a:rPr sz="850" spc="6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ethanoate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175" baseline="-957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33762" y="1523999"/>
            <a:ext cx="15271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4000" b="1" spc="3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4000" b="1" spc="3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00539" y="1798319"/>
            <a:ext cx="134683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5785" algn="l"/>
                <a:tab pos="1147445" algn="l"/>
              </a:tabLst>
            </a:pP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4</a:t>
            </a:r>
            <a:r>
              <a:rPr sz="2650" b="1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r>
              <a:rPr sz="2650" b="1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endParaRPr sz="2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386160" y="2025762"/>
            <a:ext cx="3030855" cy="842644"/>
          </a:xfrm>
          <a:custGeom>
            <a:avLst/>
            <a:gdLst/>
            <a:ahLst/>
            <a:cxnLst/>
            <a:rect l="l" t="t" r="r" b="b"/>
            <a:pathLst>
              <a:path w="3030854" h="842644">
                <a:moveTo>
                  <a:pt x="435863" y="495300"/>
                </a:moveTo>
                <a:lnTo>
                  <a:pt x="842263" y="495300"/>
                </a:lnTo>
              </a:path>
              <a:path w="3030854" h="842644">
                <a:moveTo>
                  <a:pt x="957833" y="406400"/>
                </a:moveTo>
                <a:lnTo>
                  <a:pt x="957833" y="0"/>
                </a:lnTo>
              </a:path>
              <a:path w="3030854" h="842644">
                <a:moveTo>
                  <a:pt x="904494" y="406400"/>
                </a:moveTo>
                <a:lnTo>
                  <a:pt x="904494" y="0"/>
                </a:lnTo>
              </a:path>
              <a:path w="3030854" h="842644">
                <a:moveTo>
                  <a:pt x="1020063" y="495300"/>
                </a:moveTo>
                <a:lnTo>
                  <a:pt x="1426463" y="495300"/>
                </a:lnTo>
              </a:path>
              <a:path w="3030854" h="842644">
                <a:moveTo>
                  <a:pt x="1604263" y="495300"/>
                </a:moveTo>
                <a:lnTo>
                  <a:pt x="2010663" y="495300"/>
                </a:lnTo>
              </a:path>
              <a:path w="3030854" h="842644">
                <a:moveTo>
                  <a:pt x="2188463" y="495300"/>
                </a:moveTo>
                <a:lnTo>
                  <a:pt x="2594863" y="495300"/>
                </a:lnTo>
              </a:path>
              <a:path w="3030854" h="842644">
                <a:moveTo>
                  <a:pt x="258063" y="495300"/>
                </a:moveTo>
                <a:lnTo>
                  <a:pt x="0" y="495300"/>
                </a:lnTo>
              </a:path>
              <a:path w="3030854" h="842644">
                <a:moveTo>
                  <a:pt x="346963" y="584200"/>
                </a:moveTo>
                <a:lnTo>
                  <a:pt x="346963" y="842263"/>
                </a:lnTo>
              </a:path>
              <a:path w="3030854" h="842644">
                <a:moveTo>
                  <a:pt x="346963" y="406400"/>
                </a:moveTo>
                <a:lnTo>
                  <a:pt x="346963" y="148336"/>
                </a:lnTo>
              </a:path>
              <a:path w="3030854" h="842644">
                <a:moveTo>
                  <a:pt x="2099563" y="584200"/>
                </a:moveTo>
                <a:lnTo>
                  <a:pt x="2099563" y="842263"/>
                </a:lnTo>
              </a:path>
              <a:path w="3030854" h="842644">
                <a:moveTo>
                  <a:pt x="2099563" y="406400"/>
                </a:moveTo>
                <a:lnTo>
                  <a:pt x="2099563" y="148336"/>
                </a:lnTo>
              </a:path>
              <a:path w="3030854" h="842644">
                <a:moveTo>
                  <a:pt x="2772663" y="495300"/>
                </a:moveTo>
                <a:lnTo>
                  <a:pt x="3030728" y="495300"/>
                </a:lnTo>
              </a:path>
              <a:path w="3030854" h="842644">
                <a:moveTo>
                  <a:pt x="2683763" y="584200"/>
                </a:moveTo>
                <a:lnTo>
                  <a:pt x="2683763" y="842263"/>
                </a:lnTo>
              </a:path>
              <a:path w="3030854" h="842644">
                <a:moveTo>
                  <a:pt x="2683763" y="406400"/>
                </a:moveTo>
                <a:lnTo>
                  <a:pt x="2683763" y="148336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58041" y="1826626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781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57484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781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623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42241" y="2410826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182815" y="1834902"/>
            <a:ext cx="765175" cy="821690"/>
          </a:xfrm>
          <a:custGeom>
            <a:avLst/>
            <a:gdLst/>
            <a:ahLst/>
            <a:cxnLst/>
            <a:rect l="l" t="t" r="r" b="b"/>
            <a:pathLst>
              <a:path w="765175" h="821689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765175" h="821689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765175" h="821689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765175" h="821689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  <a:path w="765175" h="821689">
                <a:moveTo>
                  <a:pt x="704100" y="796772"/>
                </a:moveTo>
                <a:lnTo>
                  <a:pt x="696988" y="789673"/>
                </a:lnTo>
                <a:lnTo>
                  <a:pt x="679462" y="789673"/>
                </a:lnTo>
                <a:lnTo>
                  <a:pt x="672350" y="796772"/>
                </a:lnTo>
                <a:lnTo>
                  <a:pt x="672350" y="814311"/>
                </a:lnTo>
                <a:lnTo>
                  <a:pt x="679462" y="821423"/>
                </a:lnTo>
                <a:lnTo>
                  <a:pt x="696988" y="821423"/>
                </a:lnTo>
                <a:lnTo>
                  <a:pt x="704100" y="814311"/>
                </a:lnTo>
                <a:lnTo>
                  <a:pt x="704100" y="805548"/>
                </a:lnTo>
                <a:lnTo>
                  <a:pt x="704100" y="796772"/>
                </a:lnTo>
                <a:close/>
              </a:path>
              <a:path w="765175" h="821689">
                <a:moveTo>
                  <a:pt x="704100" y="558012"/>
                </a:moveTo>
                <a:lnTo>
                  <a:pt x="696988" y="550913"/>
                </a:lnTo>
                <a:lnTo>
                  <a:pt x="679462" y="550913"/>
                </a:lnTo>
                <a:lnTo>
                  <a:pt x="672350" y="558012"/>
                </a:lnTo>
                <a:lnTo>
                  <a:pt x="672350" y="575551"/>
                </a:lnTo>
                <a:lnTo>
                  <a:pt x="679462" y="582663"/>
                </a:lnTo>
                <a:lnTo>
                  <a:pt x="696988" y="582663"/>
                </a:lnTo>
                <a:lnTo>
                  <a:pt x="704100" y="575551"/>
                </a:lnTo>
                <a:lnTo>
                  <a:pt x="704100" y="566788"/>
                </a:lnTo>
                <a:lnTo>
                  <a:pt x="704100" y="558012"/>
                </a:lnTo>
                <a:close/>
              </a:path>
              <a:path w="765175" h="821689">
                <a:moveTo>
                  <a:pt x="765060" y="796772"/>
                </a:moveTo>
                <a:lnTo>
                  <a:pt x="757948" y="789673"/>
                </a:lnTo>
                <a:lnTo>
                  <a:pt x="740422" y="789673"/>
                </a:lnTo>
                <a:lnTo>
                  <a:pt x="733310" y="796772"/>
                </a:lnTo>
                <a:lnTo>
                  <a:pt x="733310" y="814311"/>
                </a:lnTo>
                <a:lnTo>
                  <a:pt x="740422" y="821423"/>
                </a:lnTo>
                <a:lnTo>
                  <a:pt x="757948" y="821423"/>
                </a:lnTo>
                <a:lnTo>
                  <a:pt x="765060" y="814311"/>
                </a:lnTo>
                <a:lnTo>
                  <a:pt x="765060" y="805548"/>
                </a:lnTo>
                <a:lnTo>
                  <a:pt x="765060" y="796772"/>
                </a:lnTo>
                <a:close/>
              </a:path>
              <a:path w="765175" h="821689">
                <a:moveTo>
                  <a:pt x="765060" y="558012"/>
                </a:moveTo>
                <a:lnTo>
                  <a:pt x="757948" y="550913"/>
                </a:lnTo>
                <a:lnTo>
                  <a:pt x="740422" y="550913"/>
                </a:lnTo>
                <a:lnTo>
                  <a:pt x="733310" y="558012"/>
                </a:lnTo>
                <a:lnTo>
                  <a:pt x="733310" y="575551"/>
                </a:lnTo>
                <a:lnTo>
                  <a:pt x="740422" y="582663"/>
                </a:lnTo>
                <a:lnTo>
                  <a:pt x="757948" y="582663"/>
                </a:lnTo>
                <a:lnTo>
                  <a:pt x="765060" y="575551"/>
                </a:lnTo>
                <a:lnTo>
                  <a:pt x="765060" y="566788"/>
                </a:lnTo>
                <a:lnTo>
                  <a:pt x="765060" y="558012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84307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0149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307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149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35532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80390" y="2498089"/>
          <a:ext cx="4415789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66781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307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0149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87828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53728" y="3495275"/>
            <a:ext cx="3274060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36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28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14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8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4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802759" y="3668240"/>
            <a:ext cx="421068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Dots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=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are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neutral: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5370" y="3959069"/>
            <a:ext cx="5032375" cy="2907665"/>
            <a:chOff x="5385370" y="3959069"/>
            <a:chExt cx="5032375" cy="290766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58027" y="4866549"/>
            <a:ext cx="3477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C(=O)OCH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2925" baseline="-17094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75204" y="6134043"/>
            <a:ext cx="4243705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1825" marR="30480" indent="-1877060">
              <a:lnSpc>
                <a:spcPct val="107800"/>
              </a:lnSpc>
              <a:spcBef>
                <a:spcPts val="95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(=O) is the carbonyl oxygen; the next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O is the ester oxygen joining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 acetyl carbon 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to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CH</a:t>
            </a:r>
            <a:r>
              <a:rPr sz="825" spc="-15" baseline="-15151" dirty="0">
                <a:solidFill>
                  <a:srgbClr val="5E6B79"/>
                </a:solidFill>
                <a:latin typeface="Arial"/>
                <a:cs typeface="Arial"/>
              </a:rPr>
              <a:t>2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CH</a:t>
            </a:r>
            <a:r>
              <a:rPr sz="825" spc="-15" baseline="-15151" dirty="0">
                <a:solidFill>
                  <a:srgbClr val="5E6B79"/>
                </a:solidFill>
                <a:latin typeface="Arial"/>
                <a:cs typeface="Arial"/>
              </a:rPr>
              <a:t>3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.</a:t>
            </a:r>
            <a:endParaRPr sz="8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47" name="object 47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48" name="object 48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05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49">
            <a:extLst>
              <a:ext uri="{FF2B5EF4-FFF2-40B4-BE49-F238E27FC236}">
                <a16:creationId xmlns:a16="http://schemas.microsoft.com/office/drawing/2014/main" id="{63886B9C-547B-2F25-7211-C39C7B716639}"/>
              </a:ext>
            </a:extLst>
          </p:cNvPr>
          <p:cNvSpPr/>
          <p:nvPr/>
        </p:nvSpPr>
        <p:spPr>
          <a:xfrm>
            <a:off x="5096091" y="707821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1E196EEA-EC00-4249-134E-EE16478D8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163" y="5071999"/>
            <a:ext cx="1371600" cy="75247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06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12759" algn="l"/>
                        </a:tabLst>
                      </a:pPr>
                      <a:r>
                        <a:rPr sz="3000" b="1" spc="-15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Cyclohexane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DEVELOPING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843089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6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7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cyclohexane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2175" baseline="-957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5974" y="1625599"/>
            <a:ext cx="13696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0" b="1" spc="-15" baseline="11111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2650" b="1" spc="-10" dirty="0">
                <a:solidFill>
                  <a:srgbClr val="111111"/>
                </a:solidFill>
                <a:latin typeface="Arial"/>
                <a:cs typeface="Arial"/>
              </a:rPr>
              <a:t>6</a:t>
            </a:r>
            <a:r>
              <a:rPr sz="6000" b="1" spc="-15" baseline="11111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2650" b="1" spc="-10" dirty="0">
                <a:solidFill>
                  <a:srgbClr val="111111"/>
                </a:solidFill>
                <a:latin typeface="Arial"/>
                <a:cs typeface="Arial"/>
              </a:rPr>
              <a:t>12</a:t>
            </a:r>
            <a:endParaRPr sz="2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0390" y="2498089"/>
          <a:ext cx="4413882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4622600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11432" y="1634037"/>
            <a:ext cx="1580515" cy="1610995"/>
          </a:xfrm>
          <a:custGeom>
            <a:avLst/>
            <a:gdLst/>
            <a:ahLst/>
            <a:cxnLst/>
            <a:rect l="l" t="t" r="r" b="b"/>
            <a:pathLst>
              <a:path w="1580515" h="1610995">
                <a:moveTo>
                  <a:pt x="713102" y="265487"/>
                </a:moveTo>
                <a:lnTo>
                  <a:pt x="361149" y="468687"/>
                </a:lnTo>
              </a:path>
              <a:path w="1580515" h="1610995">
                <a:moveTo>
                  <a:pt x="284161" y="602037"/>
                </a:moveTo>
                <a:lnTo>
                  <a:pt x="284161" y="1008437"/>
                </a:lnTo>
              </a:path>
              <a:path w="1580515" h="1610995">
                <a:moveTo>
                  <a:pt x="361149" y="1141787"/>
                </a:moveTo>
                <a:lnTo>
                  <a:pt x="713102" y="1344987"/>
                </a:lnTo>
              </a:path>
              <a:path w="1580515" h="1610995">
                <a:moveTo>
                  <a:pt x="867082" y="1344987"/>
                </a:moveTo>
                <a:lnTo>
                  <a:pt x="1219034" y="1141787"/>
                </a:lnTo>
              </a:path>
              <a:path w="1580515" h="1610995">
                <a:moveTo>
                  <a:pt x="1296024" y="1008437"/>
                </a:moveTo>
                <a:lnTo>
                  <a:pt x="1296024" y="602037"/>
                </a:lnTo>
              </a:path>
              <a:path w="1580515" h="1610995">
                <a:moveTo>
                  <a:pt x="1219034" y="468687"/>
                </a:moveTo>
                <a:lnTo>
                  <a:pt x="867082" y="265487"/>
                </a:lnTo>
              </a:path>
              <a:path w="1580515" h="1610995">
                <a:moveTo>
                  <a:pt x="847236" y="152935"/>
                </a:moveTo>
                <a:lnTo>
                  <a:pt x="975565" y="0"/>
                </a:lnTo>
              </a:path>
              <a:path w="1580515" h="1610995">
                <a:moveTo>
                  <a:pt x="732948" y="152935"/>
                </a:moveTo>
                <a:lnTo>
                  <a:pt x="604620" y="0"/>
                </a:lnTo>
              </a:path>
              <a:path w="1580515" h="1610995">
                <a:moveTo>
                  <a:pt x="196611" y="528574"/>
                </a:moveTo>
                <a:lnTo>
                  <a:pt x="0" y="563242"/>
                </a:lnTo>
              </a:path>
              <a:path w="1580515" h="1610995">
                <a:moveTo>
                  <a:pt x="253754" y="429599"/>
                </a:moveTo>
                <a:lnTo>
                  <a:pt x="185473" y="241994"/>
                </a:lnTo>
              </a:path>
              <a:path w="1580515" h="1610995">
                <a:moveTo>
                  <a:pt x="253754" y="1180876"/>
                </a:moveTo>
                <a:lnTo>
                  <a:pt x="185473" y="1368479"/>
                </a:lnTo>
              </a:path>
              <a:path w="1580515" h="1610995">
                <a:moveTo>
                  <a:pt x="196611" y="1081900"/>
                </a:moveTo>
                <a:lnTo>
                  <a:pt x="0" y="1047231"/>
                </a:lnTo>
              </a:path>
              <a:path w="1580515" h="1610995">
                <a:moveTo>
                  <a:pt x="732948" y="1457538"/>
                </a:moveTo>
                <a:lnTo>
                  <a:pt x="604620" y="1610474"/>
                </a:lnTo>
              </a:path>
              <a:path w="1580515" h="1610995">
                <a:moveTo>
                  <a:pt x="847236" y="1457538"/>
                </a:moveTo>
                <a:lnTo>
                  <a:pt x="975565" y="1610474"/>
                </a:lnTo>
              </a:path>
              <a:path w="1580515" h="1610995">
                <a:moveTo>
                  <a:pt x="1326429" y="1180876"/>
                </a:moveTo>
                <a:lnTo>
                  <a:pt x="1394712" y="1368479"/>
                </a:lnTo>
              </a:path>
              <a:path w="1580515" h="1610995">
                <a:moveTo>
                  <a:pt x="1383573" y="1081900"/>
                </a:moveTo>
                <a:lnTo>
                  <a:pt x="1580184" y="1047231"/>
                </a:lnTo>
              </a:path>
              <a:path w="1580515" h="1610995">
                <a:moveTo>
                  <a:pt x="1383573" y="528574"/>
                </a:moveTo>
                <a:lnTo>
                  <a:pt x="1580184" y="563242"/>
                </a:lnTo>
              </a:path>
              <a:path w="1580515" h="1610995">
                <a:moveTo>
                  <a:pt x="1326429" y="429599"/>
                </a:moveTo>
                <a:lnTo>
                  <a:pt x="1394712" y="241994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613687" y="1467373"/>
            <a:ext cx="58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6545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16695" y="169657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46508" y="17448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76321" y="169657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83874" y="209983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40577" y="20369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52440" y="20369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09142" y="209983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83874" y="255824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40577" y="26211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52440" y="26211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09142" y="255824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16695" y="296149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46508" y="29132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76321" y="296149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13687" y="3190703"/>
            <a:ext cx="58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6545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3728" y="3495275"/>
            <a:ext cx="3274060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36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36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18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0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0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61054" y="3668240"/>
            <a:ext cx="469455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valence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electron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in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bond.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shown;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5370" y="3959069"/>
            <a:ext cx="5032375" cy="2907665"/>
            <a:chOff x="5385370" y="3959069"/>
            <a:chExt cx="5032375" cy="290766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25912" y="4866549"/>
            <a:ext cx="2142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111111"/>
                </a:solidFill>
                <a:latin typeface="Arial"/>
                <a:cs typeface="Arial"/>
              </a:rPr>
              <a:t>cyclo-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(CH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)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6</a:t>
            </a:r>
            <a:endParaRPr sz="2925" baseline="-17094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4739" y="6134043"/>
            <a:ext cx="4485005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9289" marR="30480" indent="-1914525">
              <a:lnSpc>
                <a:spcPct val="107800"/>
              </a:lnSpc>
              <a:spcBef>
                <a:spcPts val="95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Six CH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2</a:t>
            </a:r>
            <a:r>
              <a:rPr sz="825" spc="127" baseline="-15151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groups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joined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end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to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end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in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closed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ring: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CH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2</a:t>
            </a:r>
            <a:r>
              <a:rPr sz="825" spc="127" baseline="-15151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bonded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to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two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neighbouring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CH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2</a:t>
            </a:r>
            <a:r>
              <a:rPr sz="825" spc="150" baseline="-15151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groups.</a:t>
            </a:r>
            <a:endParaRPr sz="8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47" name="object 47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48" name="object 48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06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49">
            <a:extLst>
              <a:ext uri="{FF2B5EF4-FFF2-40B4-BE49-F238E27FC236}">
                <a16:creationId xmlns:a16="http://schemas.microsoft.com/office/drawing/2014/main" id="{69B2D260-D065-C8B1-D6DE-8C37212316BB}"/>
              </a:ext>
            </a:extLst>
          </p:cNvPr>
          <p:cNvSpPr/>
          <p:nvPr/>
        </p:nvSpPr>
        <p:spPr>
          <a:xfrm>
            <a:off x="5096091" y="7073525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5F2CECB4-01DF-9E48-5C87-C8AB52861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607" y="5036663"/>
            <a:ext cx="723900" cy="82867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07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12759" algn="l"/>
                        </a:tabLst>
                      </a:pPr>
                      <a:r>
                        <a:rPr sz="3000" b="1" spc="-15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Cyclohexanone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DEVELOPING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821372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6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7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cyclohexanone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3300" baseline="5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08362" y="1523999"/>
            <a:ext cx="17646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6</a:t>
            </a: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10</a:t>
            </a: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0390" y="2498089"/>
          <a:ext cx="4415154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4687828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85418" y="1600199"/>
            <a:ext cx="1432560" cy="1710689"/>
          </a:xfrm>
          <a:custGeom>
            <a:avLst/>
            <a:gdLst/>
            <a:ahLst/>
            <a:cxnLst/>
            <a:rect l="l" t="t" r="r" b="b"/>
            <a:pathLst>
              <a:path w="1432559" h="1710689">
                <a:moveTo>
                  <a:pt x="639116" y="489644"/>
                </a:moveTo>
                <a:lnTo>
                  <a:pt x="330556" y="667791"/>
                </a:lnTo>
              </a:path>
              <a:path w="1432559" h="1710689">
                <a:moveTo>
                  <a:pt x="253566" y="801141"/>
                </a:moveTo>
                <a:lnTo>
                  <a:pt x="253566" y="1157436"/>
                </a:lnTo>
              </a:path>
              <a:path w="1432559" h="1710689">
                <a:moveTo>
                  <a:pt x="330556" y="1290786"/>
                </a:moveTo>
                <a:lnTo>
                  <a:pt x="639116" y="1468932"/>
                </a:lnTo>
              </a:path>
              <a:path w="1432559" h="1710689">
                <a:moveTo>
                  <a:pt x="793095" y="1468932"/>
                </a:moveTo>
                <a:lnTo>
                  <a:pt x="1101656" y="1290786"/>
                </a:lnTo>
              </a:path>
              <a:path w="1432559" h="1710689">
                <a:moveTo>
                  <a:pt x="1178645" y="1157436"/>
                </a:moveTo>
                <a:lnTo>
                  <a:pt x="1178645" y="801141"/>
                </a:lnTo>
              </a:path>
              <a:path w="1432559" h="1710689">
                <a:moveTo>
                  <a:pt x="1101656" y="667791"/>
                </a:moveTo>
                <a:lnTo>
                  <a:pt x="793095" y="489644"/>
                </a:lnTo>
              </a:path>
              <a:path w="1432559" h="1710689">
                <a:moveTo>
                  <a:pt x="742776" y="356294"/>
                </a:moveTo>
                <a:lnTo>
                  <a:pt x="742776" y="0"/>
                </a:lnTo>
              </a:path>
              <a:path w="1432559" h="1710689">
                <a:moveTo>
                  <a:pt x="689436" y="356294"/>
                </a:moveTo>
                <a:lnTo>
                  <a:pt x="689436" y="0"/>
                </a:lnTo>
              </a:path>
              <a:path w="1432559" h="1710689">
                <a:moveTo>
                  <a:pt x="166018" y="727679"/>
                </a:moveTo>
                <a:lnTo>
                  <a:pt x="0" y="756951"/>
                </a:lnTo>
              </a:path>
              <a:path w="1432559" h="1710689">
                <a:moveTo>
                  <a:pt x="223161" y="628703"/>
                </a:moveTo>
                <a:lnTo>
                  <a:pt x="165503" y="470291"/>
                </a:lnTo>
              </a:path>
              <a:path w="1432559" h="1710689">
                <a:moveTo>
                  <a:pt x="223161" y="1329874"/>
                </a:moveTo>
                <a:lnTo>
                  <a:pt x="165503" y="1488286"/>
                </a:lnTo>
              </a:path>
              <a:path w="1432559" h="1710689">
                <a:moveTo>
                  <a:pt x="166018" y="1230899"/>
                </a:moveTo>
                <a:lnTo>
                  <a:pt x="0" y="1201625"/>
                </a:lnTo>
              </a:path>
              <a:path w="1432559" h="1710689">
                <a:moveTo>
                  <a:pt x="658962" y="1581485"/>
                </a:moveTo>
                <a:lnTo>
                  <a:pt x="550602" y="1710622"/>
                </a:lnTo>
              </a:path>
              <a:path w="1432559" h="1710689">
                <a:moveTo>
                  <a:pt x="773249" y="1581485"/>
                </a:moveTo>
                <a:lnTo>
                  <a:pt x="881609" y="1710622"/>
                </a:lnTo>
              </a:path>
              <a:path w="1432559" h="1710689">
                <a:moveTo>
                  <a:pt x="1209051" y="1329874"/>
                </a:moveTo>
                <a:lnTo>
                  <a:pt x="1266708" y="1488286"/>
                </a:lnTo>
              </a:path>
              <a:path w="1432559" h="1710689">
                <a:moveTo>
                  <a:pt x="1266195" y="1230899"/>
                </a:moveTo>
                <a:lnTo>
                  <a:pt x="1432212" y="1201625"/>
                </a:lnTo>
              </a:path>
              <a:path w="1432559" h="1710689">
                <a:moveTo>
                  <a:pt x="1266195" y="727679"/>
                </a:moveTo>
                <a:lnTo>
                  <a:pt x="1432212" y="756951"/>
                </a:lnTo>
              </a:path>
              <a:path w="1432559" h="1710689">
                <a:moveTo>
                  <a:pt x="1209051" y="628703"/>
                </a:moveTo>
                <a:lnTo>
                  <a:pt x="1266708" y="470291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842241" y="1401063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767015" y="1409338"/>
            <a:ext cx="269240" cy="85090"/>
          </a:xfrm>
          <a:custGeom>
            <a:avLst/>
            <a:gdLst/>
            <a:ahLst/>
            <a:cxnLst/>
            <a:rect l="l" t="t" r="r" b="b"/>
            <a:pathLst>
              <a:path w="269240" h="85090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269240" h="85090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269240" h="85090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269240" h="85090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270712" y="189103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46508" y="193515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422303" y="189103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57861" y="225970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83969" y="220220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09047" y="220220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35155" y="225970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57861" y="267879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83969" y="273629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09047" y="273629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35155" y="267879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46508" y="300334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70712" y="3047468"/>
            <a:ext cx="1274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5125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3728" y="3495275"/>
            <a:ext cx="3274060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40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36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18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4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02759" y="3257013"/>
            <a:ext cx="4210685" cy="563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  <a:tabLst>
                <a:tab pos="425450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Arial"/>
              <a:cs typeface="Arial"/>
            </a:endParaRPr>
          </a:p>
          <a:p>
            <a:pPr marR="5080" algn="ctr">
              <a:lnSpc>
                <a:spcPct val="100000"/>
              </a:lnSpc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Dots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=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are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neutral: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5370" y="3959069"/>
            <a:ext cx="5032375" cy="2907665"/>
            <a:chOff x="5385370" y="3959069"/>
            <a:chExt cx="5032375" cy="290766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28910" y="4866549"/>
            <a:ext cx="29362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111111"/>
                </a:solidFill>
                <a:latin typeface="Arial"/>
                <a:cs typeface="Arial"/>
              </a:rPr>
              <a:t>cyclo-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(CH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)</a:t>
            </a:r>
            <a:r>
              <a:rPr sz="2925" spc="-15" baseline="-17094" dirty="0">
                <a:solidFill>
                  <a:srgbClr val="111111"/>
                </a:solidFill>
                <a:latin typeface="Arial"/>
                <a:cs typeface="Arial"/>
              </a:rPr>
              <a:t>5</a:t>
            </a:r>
            <a:r>
              <a:rPr sz="3000" spc="-10" dirty="0">
                <a:solidFill>
                  <a:srgbClr val="111111"/>
                </a:solidFill>
                <a:latin typeface="Arial"/>
                <a:cs typeface="Arial"/>
              </a:rPr>
              <a:t>C=O</a:t>
            </a:r>
            <a:endParaRPr sz="3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22481" y="6282379"/>
            <a:ext cx="374967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Five CH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2</a:t>
            </a:r>
            <a:r>
              <a:rPr sz="825" spc="120" baseline="-15151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groups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and one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C=O carbon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joined in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 closed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six-membered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ring.</a:t>
            </a:r>
            <a:endParaRPr sz="8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46" name="object 46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47" name="object 47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07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61" name="object 49">
            <a:extLst>
              <a:ext uri="{FF2B5EF4-FFF2-40B4-BE49-F238E27FC236}">
                <a16:creationId xmlns:a16="http://schemas.microsoft.com/office/drawing/2014/main" id="{6ABA5D5C-79D4-4458-1F57-5978106642F9}"/>
              </a:ext>
            </a:extLst>
          </p:cNvPr>
          <p:cNvSpPr/>
          <p:nvPr/>
        </p:nvSpPr>
        <p:spPr>
          <a:xfrm>
            <a:off x="5096091" y="7078211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97E70679-3403-58CC-A944-36C310B18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449" y="4819137"/>
            <a:ext cx="723900" cy="126682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08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45780" algn="l"/>
                        </a:tabLst>
                      </a:pPr>
                      <a:r>
                        <a:rPr sz="3000" b="1" spc="-15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Acetaminophen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CHALLENGE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801179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also</a:t>
                      </a:r>
                      <a:r>
                        <a:rPr sz="850" spc="5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paracetamol</a:t>
                      </a:r>
                      <a:r>
                        <a:rPr sz="850" spc="36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|</a:t>
                      </a:r>
                      <a:r>
                        <a:rPr sz="850" spc="35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6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5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N-(4-</a:t>
                      </a:r>
                      <a:r>
                        <a:rPr sz="850" spc="-1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hydroxyphenyl)acetamide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175" baseline="-957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24974" y="1523999"/>
            <a:ext cx="21310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9</a:t>
            </a: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NO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endParaRPr sz="3975" baseline="-16771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0390" y="2498089"/>
          <a:ext cx="4408801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41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2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4731315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01960" y="1632862"/>
            <a:ext cx="4199255" cy="1612900"/>
          </a:xfrm>
          <a:custGeom>
            <a:avLst/>
            <a:gdLst/>
            <a:ahLst/>
            <a:cxnLst/>
            <a:rect l="l" t="t" r="r" b="b"/>
            <a:pathLst>
              <a:path w="4199255" h="1612900">
                <a:moveTo>
                  <a:pt x="435863" y="806411"/>
                </a:moveTo>
                <a:lnTo>
                  <a:pt x="842263" y="806411"/>
                </a:lnTo>
              </a:path>
              <a:path w="4199255" h="1612900">
                <a:moveTo>
                  <a:pt x="957833" y="717511"/>
                </a:moveTo>
                <a:lnTo>
                  <a:pt x="957833" y="311111"/>
                </a:lnTo>
              </a:path>
              <a:path w="4199255" h="1612900">
                <a:moveTo>
                  <a:pt x="904494" y="717511"/>
                </a:moveTo>
                <a:lnTo>
                  <a:pt x="904494" y="311111"/>
                </a:lnTo>
              </a:path>
              <a:path w="4199255" h="1612900">
                <a:moveTo>
                  <a:pt x="1020063" y="806411"/>
                </a:moveTo>
                <a:lnTo>
                  <a:pt x="1426463" y="806411"/>
                </a:lnTo>
              </a:path>
              <a:path w="4199255" h="1612900">
                <a:moveTo>
                  <a:pt x="1604263" y="806411"/>
                </a:moveTo>
                <a:lnTo>
                  <a:pt x="2010663" y="806411"/>
                </a:lnTo>
              </a:path>
              <a:path w="4199255" h="1612900">
                <a:moveTo>
                  <a:pt x="2120917" y="896736"/>
                </a:moveTo>
                <a:lnTo>
                  <a:pt x="2324117" y="1248689"/>
                </a:lnTo>
              </a:path>
              <a:path w="4199255" h="1612900">
                <a:moveTo>
                  <a:pt x="2167111" y="870066"/>
                </a:moveTo>
                <a:lnTo>
                  <a:pt x="2370311" y="1222019"/>
                </a:lnTo>
              </a:path>
              <a:path w="4199255" h="1612900">
                <a:moveTo>
                  <a:pt x="2480563" y="1312344"/>
                </a:moveTo>
                <a:lnTo>
                  <a:pt x="2886963" y="1312344"/>
                </a:lnTo>
              </a:path>
              <a:path w="4199255" h="1612900">
                <a:moveTo>
                  <a:pt x="3043411" y="1248689"/>
                </a:moveTo>
                <a:lnTo>
                  <a:pt x="3246611" y="896736"/>
                </a:lnTo>
              </a:path>
              <a:path w="4199255" h="1612900">
                <a:moveTo>
                  <a:pt x="2997217" y="1222019"/>
                </a:moveTo>
                <a:lnTo>
                  <a:pt x="3200417" y="870066"/>
                </a:lnTo>
              </a:path>
              <a:path w="4199255" h="1612900">
                <a:moveTo>
                  <a:pt x="3223513" y="729421"/>
                </a:moveTo>
                <a:lnTo>
                  <a:pt x="3020313" y="377469"/>
                </a:lnTo>
              </a:path>
              <a:path w="4199255" h="1612900">
                <a:moveTo>
                  <a:pt x="2886963" y="273809"/>
                </a:moveTo>
                <a:lnTo>
                  <a:pt x="2480563" y="273809"/>
                </a:lnTo>
              </a:path>
              <a:path w="4199255" h="1612900">
                <a:moveTo>
                  <a:pt x="2886963" y="327149"/>
                </a:moveTo>
                <a:lnTo>
                  <a:pt x="2480563" y="327149"/>
                </a:lnTo>
              </a:path>
              <a:path w="4199255" h="1612900">
                <a:moveTo>
                  <a:pt x="2347213" y="377469"/>
                </a:moveTo>
                <a:lnTo>
                  <a:pt x="2144013" y="729421"/>
                </a:lnTo>
              </a:path>
              <a:path w="4199255" h="1612900">
                <a:moveTo>
                  <a:pt x="3356863" y="806411"/>
                </a:moveTo>
                <a:lnTo>
                  <a:pt x="3763263" y="806411"/>
                </a:lnTo>
              </a:path>
              <a:path w="4199255" h="1612900">
                <a:moveTo>
                  <a:pt x="258063" y="806411"/>
                </a:moveTo>
                <a:lnTo>
                  <a:pt x="0" y="806411"/>
                </a:lnTo>
              </a:path>
              <a:path w="4199255" h="1612900">
                <a:moveTo>
                  <a:pt x="346963" y="895311"/>
                </a:moveTo>
                <a:lnTo>
                  <a:pt x="346963" y="1153375"/>
                </a:lnTo>
              </a:path>
              <a:path w="4199255" h="1612900">
                <a:moveTo>
                  <a:pt x="346963" y="717511"/>
                </a:moveTo>
                <a:lnTo>
                  <a:pt x="346963" y="459447"/>
                </a:lnTo>
              </a:path>
              <a:path w="4199255" h="1612900">
                <a:moveTo>
                  <a:pt x="1515363" y="895311"/>
                </a:moveTo>
                <a:lnTo>
                  <a:pt x="1515363" y="1153375"/>
                </a:lnTo>
              </a:path>
              <a:path w="4199255" h="1612900">
                <a:moveTo>
                  <a:pt x="2347213" y="1389334"/>
                </a:moveTo>
                <a:lnTo>
                  <a:pt x="2218181" y="1612823"/>
                </a:lnTo>
              </a:path>
              <a:path w="4199255" h="1612900">
                <a:moveTo>
                  <a:pt x="3020313" y="1389334"/>
                </a:moveTo>
                <a:lnTo>
                  <a:pt x="3149346" y="1612823"/>
                </a:lnTo>
              </a:path>
              <a:path w="4199255" h="1612900">
                <a:moveTo>
                  <a:pt x="3020313" y="223490"/>
                </a:moveTo>
                <a:lnTo>
                  <a:pt x="3149346" y="0"/>
                </a:lnTo>
              </a:path>
              <a:path w="4199255" h="1612900">
                <a:moveTo>
                  <a:pt x="2347213" y="223490"/>
                </a:moveTo>
                <a:lnTo>
                  <a:pt x="2218181" y="0"/>
                </a:lnTo>
              </a:path>
              <a:path w="4199255" h="1612900">
                <a:moveTo>
                  <a:pt x="3941063" y="806411"/>
                </a:moveTo>
                <a:lnTo>
                  <a:pt x="4199128" y="806411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673841" y="1744838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28296" y="1458836"/>
            <a:ext cx="1127760" cy="57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  <a:tabLst>
                <a:tab pos="1004569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R="5080" algn="ctr">
              <a:lnSpc>
                <a:spcPct val="100000"/>
              </a:lnSpc>
              <a:tabLst>
                <a:tab pos="58356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93908" y="190841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73284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939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781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623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465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149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94841" y="2329038"/>
            <a:ext cx="548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481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598615" y="1753115"/>
            <a:ext cx="3101975" cy="821690"/>
          </a:xfrm>
          <a:custGeom>
            <a:avLst/>
            <a:gdLst/>
            <a:ahLst/>
            <a:cxnLst/>
            <a:rect l="l" t="t" r="r" b="b"/>
            <a:pathLst>
              <a:path w="3101975" h="821689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3101975" h="821689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3101975" h="821689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3101975" h="821689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  <a:path w="3101975" h="821689">
                <a:moveTo>
                  <a:pt x="704100" y="558012"/>
                </a:moveTo>
                <a:lnTo>
                  <a:pt x="696988" y="550913"/>
                </a:lnTo>
                <a:lnTo>
                  <a:pt x="679462" y="550913"/>
                </a:lnTo>
                <a:lnTo>
                  <a:pt x="672350" y="558012"/>
                </a:lnTo>
                <a:lnTo>
                  <a:pt x="672350" y="575551"/>
                </a:lnTo>
                <a:lnTo>
                  <a:pt x="679462" y="582663"/>
                </a:lnTo>
                <a:lnTo>
                  <a:pt x="696988" y="582663"/>
                </a:lnTo>
                <a:lnTo>
                  <a:pt x="704100" y="575551"/>
                </a:lnTo>
                <a:lnTo>
                  <a:pt x="704100" y="566788"/>
                </a:lnTo>
                <a:lnTo>
                  <a:pt x="704100" y="558012"/>
                </a:lnTo>
                <a:close/>
              </a:path>
              <a:path w="3101975" h="821689">
                <a:moveTo>
                  <a:pt x="765060" y="558012"/>
                </a:moveTo>
                <a:lnTo>
                  <a:pt x="757948" y="550913"/>
                </a:lnTo>
                <a:lnTo>
                  <a:pt x="740422" y="550913"/>
                </a:lnTo>
                <a:lnTo>
                  <a:pt x="733310" y="558012"/>
                </a:lnTo>
                <a:lnTo>
                  <a:pt x="733310" y="575551"/>
                </a:lnTo>
                <a:lnTo>
                  <a:pt x="740422" y="582663"/>
                </a:lnTo>
                <a:lnTo>
                  <a:pt x="757948" y="582663"/>
                </a:lnTo>
                <a:lnTo>
                  <a:pt x="765060" y="575551"/>
                </a:lnTo>
                <a:lnTo>
                  <a:pt x="765060" y="566788"/>
                </a:lnTo>
                <a:lnTo>
                  <a:pt x="765060" y="558012"/>
                </a:lnTo>
                <a:close/>
              </a:path>
              <a:path w="3101975" h="821689">
                <a:moveTo>
                  <a:pt x="3040900" y="796772"/>
                </a:moveTo>
                <a:lnTo>
                  <a:pt x="3033788" y="789673"/>
                </a:lnTo>
                <a:lnTo>
                  <a:pt x="3016262" y="789673"/>
                </a:lnTo>
                <a:lnTo>
                  <a:pt x="3009150" y="796772"/>
                </a:lnTo>
                <a:lnTo>
                  <a:pt x="3009150" y="814311"/>
                </a:lnTo>
                <a:lnTo>
                  <a:pt x="3016262" y="821423"/>
                </a:lnTo>
                <a:lnTo>
                  <a:pt x="3033788" y="821423"/>
                </a:lnTo>
                <a:lnTo>
                  <a:pt x="3040900" y="814311"/>
                </a:lnTo>
                <a:lnTo>
                  <a:pt x="3040900" y="805548"/>
                </a:lnTo>
                <a:lnTo>
                  <a:pt x="3040900" y="796772"/>
                </a:lnTo>
                <a:close/>
              </a:path>
              <a:path w="3101975" h="821689">
                <a:moveTo>
                  <a:pt x="3040900" y="558012"/>
                </a:moveTo>
                <a:lnTo>
                  <a:pt x="3033788" y="550913"/>
                </a:lnTo>
                <a:lnTo>
                  <a:pt x="3016262" y="550913"/>
                </a:lnTo>
                <a:lnTo>
                  <a:pt x="3009150" y="558012"/>
                </a:lnTo>
                <a:lnTo>
                  <a:pt x="3009150" y="575551"/>
                </a:lnTo>
                <a:lnTo>
                  <a:pt x="3016262" y="582663"/>
                </a:lnTo>
                <a:lnTo>
                  <a:pt x="3033788" y="582663"/>
                </a:lnTo>
                <a:lnTo>
                  <a:pt x="3040900" y="575551"/>
                </a:lnTo>
                <a:lnTo>
                  <a:pt x="3040900" y="566788"/>
                </a:lnTo>
                <a:lnTo>
                  <a:pt x="3040900" y="558012"/>
                </a:lnTo>
                <a:close/>
              </a:path>
              <a:path w="3101975" h="821689">
                <a:moveTo>
                  <a:pt x="3101860" y="796772"/>
                </a:moveTo>
                <a:lnTo>
                  <a:pt x="3094748" y="789673"/>
                </a:lnTo>
                <a:lnTo>
                  <a:pt x="3077222" y="789673"/>
                </a:lnTo>
                <a:lnTo>
                  <a:pt x="3070110" y="796772"/>
                </a:lnTo>
                <a:lnTo>
                  <a:pt x="3070110" y="814311"/>
                </a:lnTo>
                <a:lnTo>
                  <a:pt x="3077222" y="821423"/>
                </a:lnTo>
                <a:lnTo>
                  <a:pt x="3094748" y="821423"/>
                </a:lnTo>
                <a:lnTo>
                  <a:pt x="3101860" y="814311"/>
                </a:lnTo>
                <a:lnTo>
                  <a:pt x="3101860" y="805548"/>
                </a:lnTo>
                <a:lnTo>
                  <a:pt x="3101860" y="796772"/>
                </a:lnTo>
                <a:close/>
              </a:path>
              <a:path w="3101975" h="821689">
                <a:moveTo>
                  <a:pt x="3101860" y="558012"/>
                </a:moveTo>
                <a:lnTo>
                  <a:pt x="3094748" y="550913"/>
                </a:lnTo>
                <a:lnTo>
                  <a:pt x="3077222" y="550913"/>
                </a:lnTo>
                <a:lnTo>
                  <a:pt x="3070110" y="558012"/>
                </a:lnTo>
                <a:lnTo>
                  <a:pt x="3070110" y="575551"/>
                </a:lnTo>
                <a:lnTo>
                  <a:pt x="3077222" y="582663"/>
                </a:lnTo>
                <a:lnTo>
                  <a:pt x="3094748" y="582663"/>
                </a:lnTo>
                <a:lnTo>
                  <a:pt x="3101860" y="575551"/>
                </a:lnTo>
                <a:lnTo>
                  <a:pt x="3101860" y="566788"/>
                </a:lnTo>
                <a:lnTo>
                  <a:pt x="3101860" y="558012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093908" y="274966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62308" y="274966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38608" y="2834971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22808" y="2834971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23365" y="3495275"/>
            <a:ext cx="3335020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58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48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24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10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5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02759" y="3199241"/>
            <a:ext cx="421068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5345">
              <a:lnSpc>
                <a:spcPct val="100000"/>
              </a:lnSpc>
              <a:spcBef>
                <a:spcPts val="100"/>
              </a:spcBef>
              <a:tabLst>
                <a:tab pos="312991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Dots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=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are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neutral: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5370" y="3959069"/>
            <a:ext cx="5032375" cy="2907665"/>
            <a:chOff x="5385370" y="3959069"/>
            <a:chExt cx="5032375" cy="290766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8650" y="4866549"/>
            <a:ext cx="41770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925" baseline="-17094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3000" dirty="0">
                <a:solidFill>
                  <a:srgbClr val="111111"/>
                </a:solidFill>
                <a:latin typeface="Arial"/>
                <a:cs typeface="Arial"/>
              </a:rPr>
              <a:t>C(=O)NH–C</a:t>
            </a:r>
            <a:r>
              <a:rPr sz="2925" baseline="-17094" dirty="0">
                <a:solidFill>
                  <a:srgbClr val="111111"/>
                </a:solidFill>
                <a:latin typeface="Arial"/>
                <a:cs typeface="Arial"/>
              </a:rPr>
              <a:t>6</a:t>
            </a:r>
            <a:r>
              <a:rPr sz="300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2925" baseline="-17094" dirty="0">
                <a:solidFill>
                  <a:srgbClr val="111111"/>
                </a:solidFill>
                <a:latin typeface="Arial"/>
                <a:cs typeface="Arial"/>
              </a:rPr>
              <a:t>4</a:t>
            </a:r>
            <a:r>
              <a:rPr sz="3000" dirty="0">
                <a:solidFill>
                  <a:srgbClr val="111111"/>
                </a:solidFill>
                <a:latin typeface="Arial"/>
                <a:cs typeface="Arial"/>
              </a:rPr>
              <a:t>–</a:t>
            </a:r>
            <a:r>
              <a:rPr sz="3000" spc="-25" dirty="0">
                <a:solidFill>
                  <a:srgbClr val="111111"/>
                </a:solidFill>
                <a:latin typeface="Arial"/>
                <a:cs typeface="Arial"/>
              </a:rPr>
              <a:t>OH</a:t>
            </a:r>
            <a:endParaRPr sz="3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27543" y="6134043"/>
            <a:ext cx="4538980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265" marR="30480" indent="-1333500">
              <a:lnSpc>
                <a:spcPct val="107800"/>
              </a:lnSpc>
              <a:spcBef>
                <a:spcPts val="95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–C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6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H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4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– is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 benzene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ring carrying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two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substituents on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opposite carbons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(para,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C-1 and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C-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4):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NHC(=O)CH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3</a:t>
            </a:r>
            <a:r>
              <a:rPr sz="825" spc="135" baseline="-15151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50" spc="1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C-1</a:t>
            </a:r>
            <a:r>
              <a:rPr sz="850" spc="1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and</a:t>
            </a:r>
            <a:r>
              <a:rPr sz="850" spc="1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OH</a:t>
            </a:r>
            <a:r>
              <a:rPr sz="850" spc="1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50" spc="1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C-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4.</a:t>
            </a:r>
            <a:endParaRPr sz="8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46" name="object 46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47" name="object 47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08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61" name="object 49">
            <a:extLst>
              <a:ext uri="{FF2B5EF4-FFF2-40B4-BE49-F238E27FC236}">
                <a16:creationId xmlns:a16="http://schemas.microsoft.com/office/drawing/2014/main" id="{A0637F1A-F858-BA24-37E4-AEC4EF7A3796}"/>
              </a:ext>
            </a:extLst>
          </p:cNvPr>
          <p:cNvSpPr/>
          <p:nvPr/>
        </p:nvSpPr>
        <p:spPr>
          <a:xfrm>
            <a:off x="5096091" y="7073378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1388EAF1-B0A1-E3F5-24C4-77426BA98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763" y="4927126"/>
            <a:ext cx="2352675" cy="104775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09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45780" algn="l"/>
                        </a:tabLst>
                      </a:pPr>
                      <a:r>
                        <a:rPr sz="3000" b="1" spc="-15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Aspirin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CHALLENGE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821372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also</a:t>
                      </a:r>
                      <a:r>
                        <a:rPr sz="850" spc="7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acetylsalicylic</a:t>
                      </a:r>
                      <a:r>
                        <a:rPr sz="850" spc="7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acid</a:t>
                      </a:r>
                      <a:r>
                        <a:rPr sz="850" spc="38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|</a:t>
                      </a:r>
                      <a:r>
                        <a:rPr sz="850" spc="38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7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7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2-(acetyloxy)benzoic</a:t>
                      </a:r>
                      <a:r>
                        <a:rPr sz="850" spc="7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2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acid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175" baseline="-957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050366" y="140106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08362" y="1523999"/>
            <a:ext cx="17646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9</a:t>
            </a: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r>
              <a:rPr sz="4000" b="1" spc="-1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3975" b="1" spc="-15" baseline="-16771" dirty="0">
                <a:solidFill>
                  <a:srgbClr val="111111"/>
                </a:solidFill>
                <a:latin typeface="Arial"/>
                <a:cs typeface="Arial"/>
              </a:rPr>
              <a:t>4</a:t>
            </a:r>
            <a:endParaRPr sz="3975" baseline="-16771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80390" y="2498089"/>
          <a:ext cx="4415789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4687828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71327" y="1548129"/>
            <a:ext cx="2270760" cy="1745614"/>
          </a:xfrm>
          <a:custGeom>
            <a:avLst/>
            <a:gdLst/>
            <a:ahLst/>
            <a:cxnLst/>
            <a:rect l="l" t="t" r="r" b="b"/>
            <a:pathLst>
              <a:path w="2270759" h="1745614">
                <a:moveTo>
                  <a:pt x="1352831" y="1008411"/>
                </a:moveTo>
                <a:lnTo>
                  <a:pt x="1352831" y="1235840"/>
                </a:lnTo>
              </a:path>
              <a:path w="2270759" h="1745614">
                <a:moveTo>
                  <a:pt x="1406171" y="1008411"/>
                </a:moveTo>
                <a:lnTo>
                  <a:pt x="1406171" y="1235840"/>
                </a:lnTo>
              </a:path>
              <a:path w="2270759" h="1745614">
                <a:moveTo>
                  <a:pt x="1456491" y="1369190"/>
                </a:moveTo>
                <a:lnTo>
                  <a:pt x="1653451" y="1482905"/>
                </a:lnTo>
              </a:path>
              <a:path w="2270759" h="1745614">
                <a:moveTo>
                  <a:pt x="1820764" y="1506001"/>
                </a:moveTo>
                <a:lnTo>
                  <a:pt x="2017725" y="1392287"/>
                </a:lnTo>
              </a:path>
              <a:path w="2270759" h="1745614">
                <a:moveTo>
                  <a:pt x="1794094" y="1459807"/>
                </a:moveTo>
                <a:lnTo>
                  <a:pt x="1991055" y="1346093"/>
                </a:lnTo>
              </a:path>
              <a:path w="2270759" h="1745614">
                <a:moveTo>
                  <a:pt x="2081378" y="1235840"/>
                </a:moveTo>
                <a:lnTo>
                  <a:pt x="2081378" y="1008411"/>
                </a:lnTo>
              </a:path>
              <a:path w="2270759" h="1745614">
                <a:moveTo>
                  <a:pt x="2017725" y="851964"/>
                </a:moveTo>
                <a:lnTo>
                  <a:pt x="1820764" y="738249"/>
                </a:lnTo>
              </a:path>
              <a:path w="2270759" h="1745614">
                <a:moveTo>
                  <a:pt x="1991055" y="898157"/>
                </a:moveTo>
                <a:lnTo>
                  <a:pt x="1794094" y="784443"/>
                </a:lnTo>
              </a:path>
              <a:path w="2270759" h="1745614">
                <a:moveTo>
                  <a:pt x="1653451" y="761345"/>
                </a:moveTo>
                <a:lnTo>
                  <a:pt x="1456491" y="875061"/>
                </a:lnTo>
              </a:path>
              <a:path w="2270759" h="1745614">
                <a:moveTo>
                  <a:pt x="1302512" y="875061"/>
                </a:moveTo>
                <a:lnTo>
                  <a:pt x="1105552" y="761345"/>
                </a:lnTo>
              </a:path>
              <a:path w="2270759" h="1745614">
                <a:moveTo>
                  <a:pt x="650003" y="627995"/>
                </a:moveTo>
                <a:lnTo>
                  <a:pt x="650003" y="400566"/>
                </a:lnTo>
              </a:path>
              <a:path w="2270759" h="1745614">
                <a:moveTo>
                  <a:pt x="596663" y="627995"/>
                </a:moveTo>
                <a:lnTo>
                  <a:pt x="596663" y="400566"/>
                </a:lnTo>
              </a:path>
              <a:path w="2270759" h="1745614">
                <a:moveTo>
                  <a:pt x="1730441" y="627995"/>
                </a:moveTo>
                <a:lnTo>
                  <a:pt x="1730441" y="400566"/>
                </a:lnTo>
              </a:path>
              <a:path w="2270759" h="1745614">
                <a:moveTo>
                  <a:pt x="1666786" y="244120"/>
                </a:moveTo>
                <a:lnTo>
                  <a:pt x="1469826" y="130406"/>
                </a:lnTo>
              </a:path>
              <a:path w="2270759" h="1745614">
                <a:moveTo>
                  <a:pt x="1640116" y="290314"/>
                </a:moveTo>
                <a:lnTo>
                  <a:pt x="1443156" y="176599"/>
                </a:lnTo>
              </a:path>
              <a:path w="2270759" h="1745614">
                <a:moveTo>
                  <a:pt x="1807429" y="267216"/>
                </a:moveTo>
                <a:lnTo>
                  <a:pt x="2004390" y="153502"/>
                </a:lnTo>
              </a:path>
              <a:path w="2270759" h="1745614">
                <a:moveTo>
                  <a:pt x="1302512" y="1369190"/>
                </a:moveTo>
                <a:lnTo>
                  <a:pt x="1190617" y="1433793"/>
                </a:lnTo>
              </a:path>
              <a:path w="2270759" h="1745614">
                <a:moveTo>
                  <a:pt x="1730441" y="1616255"/>
                </a:moveTo>
                <a:lnTo>
                  <a:pt x="1730441" y="1745460"/>
                </a:lnTo>
              </a:path>
              <a:path w="2270759" h="1745614">
                <a:moveTo>
                  <a:pt x="2158368" y="1369190"/>
                </a:moveTo>
                <a:lnTo>
                  <a:pt x="2270263" y="1433793"/>
                </a:lnTo>
              </a:path>
              <a:path w="2270759" h="1745614">
                <a:moveTo>
                  <a:pt x="2158368" y="875061"/>
                </a:moveTo>
                <a:lnTo>
                  <a:pt x="2270263" y="810458"/>
                </a:lnTo>
              </a:path>
              <a:path w="2270759" h="1745614">
                <a:moveTo>
                  <a:pt x="129204" y="716895"/>
                </a:moveTo>
                <a:lnTo>
                  <a:pt x="0" y="716895"/>
                </a:lnTo>
              </a:path>
              <a:path w="2270759" h="1745614">
                <a:moveTo>
                  <a:pt x="218104" y="805795"/>
                </a:moveTo>
                <a:lnTo>
                  <a:pt x="218104" y="935001"/>
                </a:lnTo>
              </a:path>
              <a:path w="2270759" h="1745614">
                <a:moveTo>
                  <a:pt x="218104" y="627995"/>
                </a:moveTo>
                <a:lnTo>
                  <a:pt x="218104" y="498791"/>
                </a:lnTo>
              </a:path>
              <a:path w="2270759" h="1745614">
                <a:moveTo>
                  <a:pt x="2158368" y="64602"/>
                </a:moveTo>
                <a:lnTo>
                  <a:pt x="2270263" y="0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091545" y="1546945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93422" y="1546945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35377" y="1749560"/>
            <a:ext cx="4273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14020" algn="l"/>
              </a:tabLst>
            </a:pPr>
            <a:r>
              <a:rPr lang="en-PH" sz="120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46751" y="174956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34416" y="1863025"/>
            <a:ext cx="42290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09575" algn="l"/>
              </a:tabLst>
            </a:pP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42651" y="2154789"/>
            <a:ext cx="1229360" cy="500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91465" algn="l"/>
                <a:tab pos="696595" algn="l"/>
                <a:tab pos="1097280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855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46751" y="215478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95812" y="235740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97690" y="235740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60158" y="1521936"/>
            <a:ext cx="1694814" cy="882650"/>
          </a:xfrm>
          <a:custGeom>
            <a:avLst/>
            <a:gdLst/>
            <a:ahLst/>
            <a:cxnLst/>
            <a:rect l="l" t="t" r="r" b="b"/>
            <a:pathLst>
              <a:path w="1694815" h="882650">
                <a:moveTo>
                  <a:pt x="31750" y="295808"/>
                </a:moveTo>
                <a:lnTo>
                  <a:pt x="24638" y="288696"/>
                </a:lnTo>
                <a:lnTo>
                  <a:pt x="7099" y="288696"/>
                </a:lnTo>
                <a:lnTo>
                  <a:pt x="0" y="295808"/>
                </a:lnTo>
                <a:lnTo>
                  <a:pt x="0" y="313334"/>
                </a:lnTo>
                <a:lnTo>
                  <a:pt x="7099" y="320446"/>
                </a:lnTo>
                <a:lnTo>
                  <a:pt x="24638" y="320446"/>
                </a:lnTo>
                <a:lnTo>
                  <a:pt x="31750" y="313334"/>
                </a:lnTo>
                <a:lnTo>
                  <a:pt x="31750" y="304571"/>
                </a:lnTo>
                <a:lnTo>
                  <a:pt x="31750" y="295808"/>
                </a:lnTo>
                <a:close/>
              </a:path>
              <a:path w="1694815" h="882650">
                <a:moveTo>
                  <a:pt x="62230" y="243014"/>
                </a:moveTo>
                <a:lnTo>
                  <a:pt x="55118" y="235902"/>
                </a:lnTo>
                <a:lnTo>
                  <a:pt x="37579" y="235902"/>
                </a:lnTo>
                <a:lnTo>
                  <a:pt x="30480" y="243014"/>
                </a:lnTo>
                <a:lnTo>
                  <a:pt x="30480" y="260540"/>
                </a:lnTo>
                <a:lnTo>
                  <a:pt x="37579" y="267652"/>
                </a:lnTo>
                <a:lnTo>
                  <a:pt x="55118" y="267652"/>
                </a:lnTo>
                <a:lnTo>
                  <a:pt x="62230" y="260540"/>
                </a:lnTo>
                <a:lnTo>
                  <a:pt x="62230" y="251777"/>
                </a:lnTo>
                <a:lnTo>
                  <a:pt x="62230" y="243014"/>
                </a:lnTo>
                <a:close/>
              </a:path>
              <a:path w="1694815" h="882650">
                <a:moveTo>
                  <a:pt x="238518" y="243014"/>
                </a:moveTo>
                <a:lnTo>
                  <a:pt x="231406" y="235902"/>
                </a:lnTo>
                <a:lnTo>
                  <a:pt x="213880" y="235902"/>
                </a:lnTo>
                <a:lnTo>
                  <a:pt x="206768" y="243014"/>
                </a:lnTo>
                <a:lnTo>
                  <a:pt x="206768" y="260540"/>
                </a:lnTo>
                <a:lnTo>
                  <a:pt x="213880" y="267652"/>
                </a:lnTo>
                <a:lnTo>
                  <a:pt x="231406" y="267652"/>
                </a:lnTo>
                <a:lnTo>
                  <a:pt x="238518" y="260540"/>
                </a:lnTo>
                <a:lnTo>
                  <a:pt x="238518" y="251777"/>
                </a:lnTo>
                <a:lnTo>
                  <a:pt x="238518" y="243014"/>
                </a:lnTo>
                <a:close/>
              </a:path>
              <a:path w="1694815" h="882650">
                <a:moveTo>
                  <a:pt x="268998" y="295808"/>
                </a:moveTo>
                <a:lnTo>
                  <a:pt x="261886" y="288696"/>
                </a:lnTo>
                <a:lnTo>
                  <a:pt x="244360" y="288696"/>
                </a:lnTo>
                <a:lnTo>
                  <a:pt x="237248" y="295808"/>
                </a:lnTo>
                <a:lnTo>
                  <a:pt x="237248" y="313334"/>
                </a:lnTo>
                <a:lnTo>
                  <a:pt x="244360" y="320446"/>
                </a:lnTo>
                <a:lnTo>
                  <a:pt x="261886" y="320446"/>
                </a:lnTo>
                <a:lnTo>
                  <a:pt x="268998" y="313334"/>
                </a:lnTo>
                <a:lnTo>
                  <a:pt x="268998" y="304571"/>
                </a:lnTo>
                <a:lnTo>
                  <a:pt x="268998" y="295808"/>
                </a:lnTo>
                <a:close/>
              </a:path>
              <a:path w="1694815" h="882650">
                <a:moveTo>
                  <a:pt x="495261" y="841756"/>
                </a:moveTo>
                <a:lnTo>
                  <a:pt x="488149" y="834644"/>
                </a:lnTo>
                <a:lnTo>
                  <a:pt x="470623" y="834644"/>
                </a:lnTo>
                <a:lnTo>
                  <a:pt x="463511" y="841756"/>
                </a:lnTo>
                <a:lnTo>
                  <a:pt x="463511" y="859282"/>
                </a:lnTo>
                <a:lnTo>
                  <a:pt x="470623" y="866394"/>
                </a:lnTo>
                <a:lnTo>
                  <a:pt x="488149" y="866394"/>
                </a:lnTo>
                <a:lnTo>
                  <a:pt x="495261" y="859282"/>
                </a:lnTo>
                <a:lnTo>
                  <a:pt x="495261" y="850519"/>
                </a:lnTo>
                <a:lnTo>
                  <a:pt x="495261" y="841756"/>
                </a:lnTo>
                <a:close/>
              </a:path>
              <a:path w="1694815" h="882650">
                <a:moveTo>
                  <a:pt x="554139" y="857529"/>
                </a:moveTo>
                <a:lnTo>
                  <a:pt x="547039" y="850417"/>
                </a:lnTo>
                <a:lnTo>
                  <a:pt x="529501" y="850417"/>
                </a:lnTo>
                <a:lnTo>
                  <a:pt x="522389" y="857529"/>
                </a:lnTo>
                <a:lnTo>
                  <a:pt x="522389" y="875068"/>
                </a:lnTo>
                <a:lnTo>
                  <a:pt x="529501" y="882167"/>
                </a:lnTo>
                <a:lnTo>
                  <a:pt x="547039" y="882167"/>
                </a:lnTo>
                <a:lnTo>
                  <a:pt x="554139" y="875068"/>
                </a:lnTo>
                <a:lnTo>
                  <a:pt x="554139" y="866292"/>
                </a:lnTo>
                <a:lnTo>
                  <a:pt x="554139" y="857529"/>
                </a:lnTo>
                <a:close/>
              </a:path>
              <a:path w="1694815" h="882650">
                <a:moveTo>
                  <a:pt x="557060" y="611124"/>
                </a:moveTo>
                <a:lnTo>
                  <a:pt x="549948" y="604024"/>
                </a:lnTo>
                <a:lnTo>
                  <a:pt x="532409" y="604024"/>
                </a:lnTo>
                <a:lnTo>
                  <a:pt x="525310" y="611124"/>
                </a:lnTo>
                <a:lnTo>
                  <a:pt x="525310" y="628662"/>
                </a:lnTo>
                <a:lnTo>
                  <a:pt x="532409" y="635774"/>
                </a:lnTo>
                <a:lnTo>
                  <a:pt x="549948" y="635774"/>
                </a:lnTo>
                <a:lnTo>
                  <a:pt x="557060" y="628662"/>
                </a:lnTo>
                <a:lnTo>
                  <a:pt x="557060" y="619899"/>
                </a:lnTo>
                <a:lnTo>
                  <a:pt x="557060" y="611124"/>
                </a:lnTo>
                <a:close/>
              </a:path>
              <a:path w="1694815" h="882650">
                <a:moveTo>
                  <a:pt x="615937" y="626910"/>
                </a:moveTo>
                <a:lnTo>
                  <a:pt x="608838" y="619798"/>
                </a:lnTo>
                <a:lnTo>
                  <a:pt x="591299" y="619798"/>
                </a:lnTo>
                <a:lnTo>
                  <a:pt x="584187" y="626910"/>
                </a:lnTo>
                <a:lnTo>
                  <a:pt x="584187" y="644436"/>
                </a:lnTo>
                <a:lnTo>
                  <a:pt x="591299" y="651548"/>
                </a:lnTo>
                <a:lnTo>
                  <a:pt x="608838" y="651548"/>
                </a:lnTo>
                <a:lnTo>
                  <a:pt x="615937" y="644436"/>
                </a:lnTo>
                <a:lnTo>
                  <a:pt x="615937" y="635673"/>
                </a:lnTo>
                <a:lnTo>
                  <a:pt x="615937" y="626910"/>
                </a:lnTo>
                <a:close/>
              </a:path>
              <a:path w="1694815" h="882650">
                <a:moveTo>
                  <a:pt x="787920" y="159778"/>
                </a:moveTo>
                <a:lnTo>
                  <a:pt x="780808" y="152666"/>
                </a:lnTo>
                <a:lnTo>
                  <a:pt x="763270" y="152666"/>
                </a:lnTo>
                <a:lnTo>
                  <a:pt x="756170" y="159778"/>
                </a:lnTo>
                <a:lnTo>
                  <a:pt x="756170" y="177317"/>
                </a:lnTo>
                <a:lnTo>
                  <a:pt x="763270" y="184416"/>
                </a:lnTo>
                <a:lnTo>
                  <a:pt x="780808" y="184416"/>
                </a:lnTo>
                <a:lnTo>
                  <a:pt x="787920" y="177317"/>
                </a:lnTo>
                <a:lnTo>
                  <a:pt x="787920" y="168541"/>
                </a:lnTo>
                <a:lnTo>
                  <a:pt x="787920" y="159778"/>
                </a:lnTo>
                <a:close/>
              </a:path>
              <a:path w="1694815" h="882650">
                <a:moveTo>
                  <a:pt x="818400" y="212572"/>
                </a:moveTo>
                <a:lnTo>
                  <a:pt x="811288" y="205460"/>
                </a:lnTo>
                <a:lnTo>
                  <a:pt x="793750" y="205460"/>
                </a:lnTo>
                <a:lnTo>
                  <a:pt x="786650" y="212572"/>
                </a:lnTo>
                <a:lnTo>
                  <a:pt x="786650" y="230098"/>
                </a:lnTo>
                <a:lnTo>
                  <a:pt x="793750" y="237210"/>
                </a:lnTo>
                <a:lnTo>
                  <a:pt x="811288" y="237210"/>
                </a:lnTo>
                <a:lnTo>
                  <a:pt x="818400" y="230098"/>
                </a:lnTo>
                <a:lnTo>
                  <a:pt x="818400" y="221335"/>
                </a:lnTo>
                <a:lnTo>
                  <a:pt x="818400" y="212572"/>
                </a:lnTo>
                <a:close/>
              </a:path>
              <a:path w="1694815" h="882650">
                <a:moveTo>
                  <a:pt x="876058" y="7099"/>
                </a:moveTo>
                <a:lnTo>
                  <a:pt x="868946" y="0"/>
                </a:lnTo>
                <a:lnTo>
                  <a:pt x="851420" y="0"/>
                </a:lnTo>
                <a:lnTo>
                  <a:pt x="844308" y="7099"/>
                </a:lnTo>
                <a:lnTo>
                  <a:pt x="844308" y="24638"/>
                </a:lnTo>
                <a:lnTo>
                  <a:pt x="851420" y="31750"/>
                </a:lnTo>
                <a:lnTo>
                  <a:pt x="868946" y="31750"/>
                </a:lnTo>
                <a:lnTo>
                  <a:pt x="876058" y="24638"/>
                </a:lnTo>
                <a:lnTo>
                  <a:pt x="876058" y="15875"/>
                </a:lnTo>
                <a:lnTo>
                  <a:pt x="876058" y="7099"/>
                </a:lnTo>
                <a:close/>
              </a:path>
              <a:path w="1694815" h="882650">
                <a:moveTo>
                  <a:pt x="937018" y="7099"/>
                </a:moveTo>
                <a:lnTo>
                  <a:pt x="929906" y="0"/>
                </a:lnTo>
                <a:lnTo>
                  <a:pt x="912380" y="0"/>
                </a:lnTo>
                <a:lnTo>
                  <a:pt x="905268" y="7099"/>
                </a:lnTo>
                <a:lnTo>
                  <a:pt x="905268" y="24638"/>
                </a:lnTo>
                <a:lnTo>
                  <a:pt x="912380" y="31750"/>
                </a:lnTo>
                <a:lnTo>
                  <a:pt x="929906" y="31750"/>
                </a:lnTo>
                <a:lnTo>
                  <a:pt x="937018" y="24638"/>
                </a:lnTo>
                <a:lnTo>
                  <a:pt x="937018" y="15875"/>
                </a:lnTo>
                <a:lnTo>
                  <a:pt x="937018" y="7099"/>
                </a:lnTo>
                <a:close/>
              </a:path>
              <a:path w="1694815" h="882650">
                <a:moveTo>
                  <a:pt x="1522336" y="38341"/>
                </a:moveTo>
                <a:lnTo>
                  <a:pt x="1515224" y="31229"/>
                </a:lnTo>
                <a:lnTo>
                  <a:pt x="1497685" y="31229"/>
                </a:lnTo>
                <a:lnTo>
                  <a:pt x="1490586" y="38341"/>
                </a:lnTo>
                <a:lnTo>
                  <a:pt x="1490586" y="55867"/>
                </a:lnTo>
                <a:lnTo>
                  <a:pt x="1497685" y="62979"/>
                </a:lnTo>
                <a:lnTo>
                  <a:pt x="1515224" y="62979"/>
                </a:lnTo>
                <a:lnTo>
                  <a:pt x="1522336" y="55867"/>
                </a:lnTo>
                <a:lnTo>
                  <a:pt x="1522336" y="47104"/>
                </a:lnTo>
                <a:lnTo>
                  <a:pt x="1522336" y="38341"/>
                </a:lnTo>
                <a:close/>
              </a:path>
              <a:path w="1694815" h="882650">
                <a:moveTo>
                  <a:pt x="1575130" y="7861"/>
                </a:moveTo>
                <a:lnTo>
                  <a:pt x="1568018" y="749"/>
                </a:lnTo>
                <a:lnTo>
                  <a:pt x="1550479" y="749"/>
                </a:lnTo>
                <a:lnTo>
                  <a:pt x="1543380" y="7861"/>
                </a:lnTo>
                <a:lnTo>
                  <a:pt x="1543380" y="25387"/>
                </a:lnTo>
                <a:lnTo>
                  <a:pt x="1550479" y="32499"/>
                </a:lnTo>
                <a:lnTo>
                  <a:pt x="1568018" y="32499"/>
                </a:lnTo>
                <a:lnTo>
                  <a:pt x="1575130" y="25387"/>
                </a:lnTo>
                <a:lnTo>
                  <a:pt x="1575130" y="16624"/>
                </a:lnTo>
                <a:lnTo>
                  <a:pt x="1575130" y="7861"/>
                </a:lnTo>
                <a:close/>
              </a:path>
              <a:path w="1694815" h="882650">
                <a:moveTo>
                  <a:pt x="1641716" y="245110"/>
                </a:moveTo>
                <a:lnTo>
                  <a:pt x="1634604" y="237998"/>
                </a:lnTo>
                <a:lnTo>
                  <a:pt x="1617065" y="237998"/>
                </a:lnTo>
                <a:lnTo>
                  <a:pt x="1609966" y="245110"/>
                </a:lnTo>
                <a:lnTo>
                  <a:pt x="1609966" y="262648"/>
                </a:lnTo>
                <a:lnTo>
                  <a:pt x="1617065" y="269748"/>
                </a:lnTo>
                <a:lnTo>
                  <a:pt x="1634604" y="269748"/>
                </a:lnTo>
                <a:lnTo>
                  <a:pt x="1641716" y="262648"/>
                </a:lnTo>
                <a:lnTo>
                  <a:pt x="1641716" y="253873"/>
                </a:lnTo>
                <a:lnTo>
                  <a:pt x="1641716" y="245110"/>
                </a:lnTo>
                <a:close/>
              </a:path>
              <a:path w="1694815" h="882650">
                <a:moveTo>
                  <a:pt x="1694510" y="214630"/>
                </a:moveTo>
                <a:lnTo>
                  <a:pt x="1687398" y="207518"/>
                </a:lnTo>
                <a:lnTo>
                  <a:pt x="1669859" y="207518"/>
                </a:lnTo>
                <a:lnTo>
                  <a:pt x="1662760" y="214630"/>
                </a:lnTo>
                <a:lnTo>
                  <a:pt x="1662760" y="232168"/>
                </a:lnTo>
                <a:lnTo>
                  <a:pt x="1669859" y="239268"/>
                </a:lnTo>
                <a:lnTo>
                  <a:pt x="1687398" y="239268"/>
                </a:lnTo>
                <a:lnTo>
                  <a:pt x="1694510" y="232168"/>
                </a:lnTo>
                <a:lnTo>
                  <a:pt x="1694510" y="223393"/>
                </a:lnTo>
                <a:lnTo>
                  <a:pt x="1694510" y="21463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050366" y="2211521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95812" y="276263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97690" y="276263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43136" y="290851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46751" y="2965248"/>
            <a:ext cx="123189" cy="500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50366" y="290851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23365" y="3495275"/>
            <a:ext cx="3335020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68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52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26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16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02759" y="3668240"/>
            <a:ext cx="421068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Dots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=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are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neutral: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5370" y="3959069"/>
            <a:ext cx="5032375" cy="2907665"/>
            <a:chOff x="5385370" y="3959069"/>
            <a:chExt cx="5032375" cy="290766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16100" y="4898299"/>
            <a:ext cx="456184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75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2700" spc="-15" baseline="-16975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2750" spc="-10" dirty="0">
                <a:solidFill>
                  <a:srgbClr val="111111"/>
                </a:solidFill>
                <a:latin typeface="Arial"/>
                <a:cs typeface="Arial"/>
              </a:rPr>
              <a:t>C(=O)O–C</a:t>
            </a:r>
            <a:r>
              <a:rPr sz="2700" spc="-15" baseline="-16975" dirty="0">
                <a:solidFill>
                  <a:srgbClr val="111111"/>
                </a:solidFill>
                <a:latin typeface="Arial"/>
                <a:cs typeface="Arial"/>
              </a:rPr>
              <a:t>6</a:t>
            </a:r>
            <a:r>
              <a:rPr sz="2750" spc="-1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2700" spc="-15" baseline="-16975" dirty="0">
                <a:solidFill>
                  <a:srgbClr val="111111"/>
                </a:solidFill>
                <a:latin typeface="Arial"/>
                <a:cs typeface="Arial"/>
              </a:rPr>
              <a:t>4</a:t>
            </a:r>
            <a:r>
              <a:rPr sz="2750" spc="-10" dirty="0">
                <a:solidFill>
                  <a:srgbClr val="111111"/>
                </a:solidFill>
                <a:latin typeface="Arial"/>
                <a:cs typeface="Arial"/>
              </a:rPr>
              <a:t>–C(=O)OH</a:t>
            </a:r>
            <a:endParaRPr sz="27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2362" y="6134043"/>
            <a:ext cx="4569460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0235" marR="30480" indent="-585470">
              <a:lnSpc>
                <a:spcPct val="107800"/>
              </a:lnSpc>
              <a:spcBef>
                <a:spcPts val="95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–C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6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H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4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– is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 benzene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ring carrying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two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substituents on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adjacent carbons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(ortho,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C-1 and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C-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2):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OC(=O)CH</a:t>
            </a:r>
            <a:r>
              <a:rPr sz="825" baseline="-15151" dirty="0">
                <a:solidFill>
                  <a:srgbClr val="5E6B79"/>
                </a:solidFill>
                <a:latin typeface="Arial"/>
                <a:cs typeface="Arial"/>
              </a:rPr>
              <a:t>3</a:t>
            </a:r>
            <a:r>
              <a:rPr sz="825" spc="120" baseline="-15151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(acetoxy) on C-1 and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C(=O)OH (carboxylic acid) on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C-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2.</a:t>
            </a:r>
            <a:endParaRPr sz="8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48" name="object 48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49" name="object 49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09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63" name="object 49">
            <a:extLst>
              <a:ext uri="{FF2B5EF4-FFF2-40B4-BE49-F238E27FC236}">
                <a16:creationId xmlns:a16="http://schemas.microsoft.com/office/drawing/2014/main" id="{E335F012-F334-8A79-B400-79E9D7BECD6A}"/>
              </a:ext>
            </a:extLst>
          </p:cNvPr>
          <p:cNvSpPr/>
          <p:nvPr/>
        </p:nvSpPr>
        <p:spPr>
          <a:xfrm>
            <a:off x="5096091" y="7078597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31">
            <a:extLst>
              <a:ext uri="{FF2B5EF4-FFF2-40B4-BE49-F238E27FC236}">
                <a16:creationId xmlns:a16="http://schemas.microsoft.com/office/drawing/2014/main" id="{0D069064-AFA1-47CE-1BE5-7A444A5E5AF2}"/>
              </a:ext>
            </a:extLst>
          </p:cNvPr>
          <p:cNvSpPr txBox="1"/>
          <p:nvPr/>
        </p:nvSpPr>
        <p:spPr>
          <a:xfrm>
            <a:off x="7297102" y="2077526"/>
            <a:ext cx="4273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14020" algn="l"/>
              </a:tabLst>
            </a:pPr>
            <a:r>
              <a:rPr lang="en-PH" sz="1200" spc="-65" dirty="0">
                <a:solidFill>
                  <a:schemeClr val="bg1"/>
                </a:solidFill>
                <a:latin typeface="Arial"/>
                <a:cs typeface="Arial"/>
              </a:rPr>
              <a:t>     </a:t>
            </a:r>
            <a:r>
              <a:rPr sz="1200" u="heavy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5" name="object 40">
            <a:extLst>
              <a:ext uri="{FF2B5EF4-FFF2-40B4-BE49-F238E27FC236}">
                <a16:creationId xmlns:a16="http://schemas.microsoft.com/office/drawing/2014/main" id="{A2E252F1-D585-634F-976C-78A707893C75}"/>
              </a:ext>
            </a:extLst>
          </p:cNvPr>
          <p:cNvSpPr txBox="1"/>
          <p:nvPr/>
        </p:nvSpPr>
        <p:spPr>
          <a:xfrm>
            <a:off x="6912468" y="2077526"/>
            <a:ext cx="42290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09575" algn="l"/>
              </a:tabLst>
            </a:pPr>
            <a:r>
              <a:rPr lang="en-PH" sz="1200" spc="-5" dirty="0">
                <a:solidFill>
                  <a:srgbClr val="111111"/>
                </a:solidFill>
                <a:latin typeface="Arial"/>
                <a:cs typeface="Arial"/>
              </a:rPr>
              <a:t>    </a:t>
            </a:r>
            <a:r>
              <a:rPr sz="1200" u="heavy" dirty="0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	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F4E9D60D-7200-5FA1-285B-48B2DF5C7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632" y="4717576"/>
            <a:ext cx="1847850" cy="146685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9400" y="279399"/>
          <a:ext cx="1013333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58445">
                        <a:lnSpc>
                          <a:spcPts val="825"/>
                        </a:lnSpc>
                        <a:spcBef>
                          <a:spcPts val="65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CARD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ts val="2685"/>
                        </a:lnSpc>
                      </a:pPr>
                      <a:r>
                        <a:rPr sz="2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solidFill>
                      <a:srgbClr val="E26B08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1750"/>
                        </a:lnSpc>
                        <a:tabLst>
                          <a:tab pos="8145780" algn="l"/>
                        </a:tabLst>
                      </a:pPr>
                      <a:r>
                        <a:rPr sz="3000" b="1" spc="-15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Caffeine</a:t>
                      </a:r>
                      <a:r>
                        <a:rPr sz="3000" b="1" baseline="-305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750" b="1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LEVEL:</a:t>
                      </a:r>
                      <a:r>
                        <a:rPr sz="750" b="1" spc="85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4B182"/>
                          </a:solidFill>
                          <a:latin typeface="Arial"/>
                          <a:cs typeface="Arial"/>
                        </a:rPr>
                        <a:t>CHALLENGE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77800">
                        <a:lnSpc>
                          <a:spcPts val="2590"/>
                        </a:lnSpc>
                        <a:tabLst>
                          <a:tab pos="7807325" algn="l"/>
                        </a:tabLst>
                      </a:pP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IUPAC</a:t>
                      </a:r>
                      <a:r>
                        <a:rPr sz="850" spc="22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name:</a:t>
                      </a:r>
                      <a:r>
                        <a:rPr sz="850" spc="225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1,3,7-trimethyl-3,7-dihydro-1H-purine-2,6-</a:t>
                      </a:r>
                      <a:r>
                        <a:rPr sz="850" spc="-1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dione</a:t>
                      </a:r>
                      <a:r>
                        <a:rPr sz="850" dirty="0">
                          <a:solidFill>
                            <a:srgbClr val="D4E2F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3300" b="1" spc="-15" baseline="5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175" b="1" spc="-15" baseline="-957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175" baseline="-957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1F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74320" y="972819"/>
            <a:ext cx="5032375" cy="2907665"/>
            <a:chOff x="274320" y="972819"/>
            <a:chExt cx="5032375" cy="2907665"/>
          </a:xfrm>
        </p:grpSpPr>
        <p:sp>
          <p:nvSpPr>
            <p:cNvPr id="4" name="object 4"/>
            <p:cNvSpPr/>
            <p:nvPr/>
          </p:nvSpPr>
          <p:spPr>
            <a:xfrm>
              <a:off x="27940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940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40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MOLECULAR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(identity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atom-count</a:t>
            </a:r>
            <a:r>
              <a:rPr sz="9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check)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5370" y="972819"/>
            <a:ext cx="5032375" cy="2907665"/>
            <a:chOff x="5385370" y="972819"/>
            <a:chExt cx="5032375" cy="2907665"/>
          </a:xfrm>
        </p:grpSpPr>
        <p:sp>
          <p:nvSpPr>
            <p:cNvPr id="8" name="object 8"/>
            <p:cNvSpPr/>
            <p:nvPr/>
          </p:nvSpPr>
          <p:spPr>
            <a:xfrm>
              <a:off x="5390450" y="120649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0450" y="97789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90450" y="97789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900" b="1" spc="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LEWIS</a:t>
            </a: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63959" y="1523999"/>
            <a:ext cx="22669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4925" algn="l"/>
              </a:tabLst>
            </a:pPr>
            <a:r>
              <a:rPr sz="4000" b="1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4000" b="1" spc="3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4000" b="1" dirty="0">
                <a:solidFill>
                  <a:srgbClr val="111111"/>
                </a:solidFill>
                <a:latin typeface="Arial"/>
                <a:cs typeface="Arial"/>
              </a:rPr>
              <a:t>	N</a:t>
            </a:r>
            <a:r>
              <a:rPr sz="4000" b="1" spc="3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30735" y="1798319"/>
            <a:ext cx="208661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5785" algn="l"/>
                <a:tab pos="1304925" algn="l"/>
                <a:tab pos="1886585" algn="l"/>
              </a:tabLst>
            </a:pP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r>
              <a:rPr sz="2650" b="1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2650" b="1" spc="-25" dirty="0">
                <a:solidFill>
                  <a:srgbClr val="111111"/>
                </a:solidFill>
                <a:latin typeface="Arial"/>
                <a:cs typeface="Arial"/>
              </a:rPr>
              <a:t>10</a:t>
            </a:r>
            <a:r>
              <a:rPr sz="2650" b="1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4</a:t>
            </a:r>
            <a:r>
              <a:rPr sz="2650" b="1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2650" b="1" spc="-50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endParaRPr sz="2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6901" y="2153919"/>
            <a:ext cx="2907665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Given</a:t>
            </a:r>
            <a:r>
              <a:rPr sz="850" spc="-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together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with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</a:t>
            </a:r>
            <a:r>
              <a:rPr sz="850" spc="-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compound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name;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reproduced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exactly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84200" y="2755906"/>
            <a:ext cx="4412615" cy="508000"/>
          </a:xfrm>
          <a:custGeom>
            <a:avLst/>
            <a:gdLst/>
            <a:ahLst/>
            <a:cxnLst/>
            <a:rect l="l" t="t" r="r" b="b"/>
            <a:pathLst>
              <a:path w="4412615" h="508000">
                <a:moveTo>
                  <a:pt x="4412539" y="0"/>
                </a:moveTo>
                <a:lnTo>
                  <a:pt x="0" y="0"/>
                </a:lnTo>
                <a:lnTo>
                  <a:pt x="0" y="254000"/>
                </a:lnTo>
                <a:lnTo>
                  <a:pt x="0" y="508000"/>
                </a:lnTo>
                <a:lnTo>
                  <a:pt x="4412539" y="508000"/>
                </a:lnTo>
                <a:lnTo>
                  <a:pt x="4412539" y="254000"/>
                </a:lnTo>
                <a:lnTo>
                  <a:pt x="4412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80390" y="2498089"/>
          <a:ext cx="4412614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4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match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E6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 the molecular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formula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Counted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Lewis</a:t>
                      </a:r>
                      <a:r>
                        <a:rPr sz="8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B8C6DB"/>
                      </a:solidFill>
                      <a:prstDash val="solid"/>
                    </a:lnL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b="1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R w="9525">
                      <a:solidFill>
                        <a:srgbClr val="B8C6DB"/>
                      </a:solidFill>
                      <a:prstDash val="solid"/>
                    </a:lnR>
                    <a:lnT w="9525">
                      <a:solidFill>
                        <a:srgbClr val="B8C6DB"/>
                      </a:solidFill>
                      <a:prstDash val="solid"/>
                    </a:lnT>
                    <a:lnB w="9525">
                      <a:solidFill>
                        <a:srgbClr val="B8C6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4731315" y="3107181"/>
            <a:ext cx="99695" cy="80010"/>
          </a:xfrm>
          <a:custGeom>
            <a:avLst/>
            <a:gdLst/>
            <a:ahLst/>
            <a:cxnLst/>
            <a:rect l="l" t="t" r="r" b="b"/>
            <a:pathLst>
              <a:path w="99695" h="80010">
                <a:moveTo>
                  <a:pt x="0" y="41147"/>
                </a:moveTo>
                <a:lnTo>
                  <a:pt x="34289" y="80009"/>
                </a:lnTo>
                <a:lnTo>
                  <a:pt x="99440" y="0"/>
                </a:lnTo>
              </a:path>
            </a:pathLst>
          </a:custGeom>
          <a:ln w="18288">
            <a:solidFill>
              <a:srgbClr val="1A7E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78379" y="1581354"/>
            <a:ext cx="1836420" cy="1712595"/>
          </a:xfrm>
          <a:custGeom>
            <a:avLst/>
            <a:gdLst/>
            <a:ahLst/>
            <a:cxnLst/>
            <a:rect l="l" t="t" r="r" b="b"/>
            <a:pathLst>
              <a:path w="1836420" h="1712595">
                <a:moveTo>
                  <a:pt x="464783" y="712936"/>
                </a:moveTo>
                <a:lnTo>
                  <a:pt x="464783" y="902812"/>
                </a:lnTo>
              </a:path>
              <a:path w="1836420" h="1712595">
                <a:moveTo>
                  <a:pt x="541771" y="1036162"/>
                </a:moveTo>
                <a:lnTo>
                  <a:pt x="706210" y="1131101"/>
                </a:lnTo>
              </a:path>
              <a:path w="1836420" h="1712595">
                <a:moveTo>
                  <a:pt x="860190" y="1131101"/>
                </a:moveTo>
                <a:lnTo>
                  <a:pt x="1024628" y="1036162"/>
                </a:lnTo>
              </a:path>
              <a:path w="1836420" h="1712595">
                <a:moveTo>
                  <a:pt x="1128288" y="902812"/>
                </a:moveTo>
                <a:lnTo>
                  <a:pt x="1128288" y="712936"/>
                </a:lnTo>
              </a:path>
              <a:path w="1836420" h="1712595">
                <a:moveTo>
                  <a:pt x="1074948" y="902812"/>
                </a:moveTo>
                <a:lnTo>
                  <a:pt x="1074948" y="712936"/>
                </a:lnTo>
              </a:path>
              <a:path w="1836420" h="1712595">
                <a:moveTo>
                  <a:pt x="1024628" y="579586"/>
                </a:moveTo>
                <a:lnTo>
                  <a:pt x="860190" y="484647"/>
                </a:lnTo>
              </a:path>
              <a:path w="1836420" h="1712595">
                <a:moveTo>
                  <a:pt x="706210" y="484647"/>
                </a:moveTo>
                <a:lnTo>
                  <a:pt x="541771" y="579586"/>
                </a:lnTo>
              </a:path>
              <a:path w="1836420" h="1712595">
                <a:moveTo>
                  <a:pt x="1186167" y="596564"/>
                </a:moveTo>
                <a:lnTo>
                  <a:pt x="1366751" y="537889"/>
                </a:lnTo>
              </a:path>
              <a:path w="1836420" h="1712595">
                <a:moveTo>
                  <a:pt x="1503554" y="582339"/>
                </a:moveTo>
                <a:lnTo>
                  <a:pt x="1615160" y="735952"/>
                </a:lnTo>
              </a:path>
              <a:path w="1836420" h="1712595">
                <a:moveTo>
                  <a:pt x="1593584" y="864119"/>
                </a:moveTo>
                <a:lnTo>
                  <a:pt x="1481976" y="1017733"/>
                </a:lnTo>
              </a:path>
              <a:path w="1836420" h="1712595">
                <a:moveTo>
                  <a:pt x="1636737" y="895471"/>
                </a:moveTo>
                <a:lnTo>
                  <a:pt x="1525130" y="1049086"/>
                </a:lnTo>
              </a:path>
              <a:path w="1836420" h="1712595">
                <a:moveTo>
                  <a:pt x="1366751" y="1077860"/>
                </a:moveTo>
                <a:lnTo>
                  <a:pt x="1186167" y="1019185"/>
                </a:lnTo>
              </a:path>
              <a:path w="1836420" h="1712595">
                <a:moveTo>
                  <a:pt x="374458" y="1013066"/>
                </a:moveTo>
                <a:lnTo>
                  <a:pt x="210019" y="1108005"/>
                </a:lnTo>
              </a:path>
              <a:path w="1836420" h="1712595">
                <a:moveTo>
                  <a:pt x="401128" y="1059260"/>
                </a:moveTo>
                <a:lnTo>
                  <a:pt x="236689" y="1154198"/>
                </a:lnTo>
              </a:path>
              <a:path w="1836420" h="1712595">
                <a:moveTo>
                  <a:pt x="809870" y="351297"/>
                </a:moveTo>
                <a:lnTo>
                  <a:pt x="809870" y="161419"/>
                </a:lnTo>
              </a:path>
              <a:path w="1836420" h="1712595">
                <a:moveTo>
                  <a:pt x="756530" y="351297"/>
                </a:moveTo>
                <a:lnTo>
                  <a:pt x="756530" y="161419"/>
                </a:lnTo>
              </a:path>
              <a:path w="1836420" h="1712595">
                <a:moveTo>
                  <a:pt x="387793" y="579586"/>
                </a:moveTo>
                <a:lnTo>
                  <a:pt x="223354" y="484647"/>
                </a:lnTo>
              </a:path>
              <a:path w="1836420" h="1712595">
                <a:moveTo>
                  <a:pt x="783200" y="1264451"/>
                </a:moveTo>
                <a:lnTo>
                  <a:pt x="783200" y="1454329"/>
                </a:lnTo>
              </a:path>
              <a:path w="1836420" h="1712595">
                <a:moveTo>
                  <a:pt x="1478771" y="425867"/>
                </a:moveTo>
                <a:lnTo>
                  <a:pt x="1537446" y="245283"/>
                </a:lnTo>
              </a:path>
              <a:path w="1836420" h="1712595">
                <a:moveTo>
                  <a:pt x="1756314" y="807874"/>
                </a:moveTo>
                <a:lnTo>
                  <a:pt x="1836422" y="807874"/>
                </a:lnTo>
              </a:path>
              <a:path w="1836420" h="1712595">
                <a:moveTo>
                  <a:pt x="69375" y="395747"/>
                </a:moveTo>
                <a:lnTo>
                  <a:pt x="0" y="355693"/>
                </a:lnTo>
              </a:path>
              <a:path w="1836420" h="1712595">
                <a:moveTo>
                  <a:pt x="101914" y="517187"/>
                </a:moveTo>
                <a:lnTo>
                  <a:pt x="61861" y="586560"/>
                </a:lnTo>
              </a:path>
              <a:path w="1836420" h="1712595">
                <a:moveTo>
                  <a:pt x="190814" y="363207"/>
                </a:moveTo>
                <a:lnTo>
                  <a:pt x="230868" y="293833"/>
                </a:lnTo>
              </a:path>
              <a:path w="1836420" h="1712595">
                <a:moveTo>
                  <a:pt x="783200" y="1632129"/>
                </a:moveTo>
                <a:lnTo>
                  <a:pt x="783200" y="1712235"/>
                </a:lnTo>
              </a:path>
              <a:path w="1836420" h="1712595">
                <a:moveTo>
                  <a:pt x="694300" y="1543229"/>
                </a:moveTo>
                <a:lnTo>
                  <a:pt x="614193" y="1543229"/>
                </a:lnTo>
              </a:path>
              <a:path w="1836420" h="1712595">
                <a:moveTo>
                  <a:pt x="872100" y="1543229"/>
                </a:moveTo>
                <a:lnTo>
                  <a:pt x="952206" y="1543229"/>
                </a:lnTo>
              </a:path>
              <a:path w="1836420" h="1712595">
                <a:moveTo>
                  <a:pt x="1592389" y="76187"/>
                </a:moveTo>
                <a:lnTo>
                  <a:pt x="1617144" y="0"/>
                </a:lnTo>
              </a:path>
              <a:path w="1836420" h="1712595">
                <a:moveTo>
                  <a:pt x="1649467" y="188207"/>
                </a:moveTo>
                <a:lnTo>
                  <a:pt x="1725653" y="212961"/>
                </a:lnTo>
              </a:path>
              <a:path w="1836420" h="1712595">
                <a:moveTo>
                  <a:pt x="1480369" y="133263"/>
                </a:moveTo>
                <a:lnTo>
                  <a:pt x="1404183" y="108510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702295" y="1543637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32092" y="1401063"/>
            <a:ext cx="479425" cy="364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ts val="1335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  <a:p>
            <a:pPr marL="25400">
              <a:lnSpc>
                <a:spcPts val="1335"/>
              </a:lnSpc>
            </a:pP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1200" spc="140" dirty="0">
                <a:solidFill>
                  <a:srgbClr val="111111"/>
                </a:solidFill>
                <a:latin typeface="Arial"/>
                <a:cs typeface="Arial"/>
              </a:rPr>
              <a:t>  </a:t>
            </a:r>
            <a:r>
              <a:rPr sz="1800" spc="-75" baseline="-27777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800" baseline="-27777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91061" y="170115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59571" y="178998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69728" y="191131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06562" y="191131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74663" y="198153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48394" y="2121471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88145" y="209515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24981" y="209515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88145" y="246283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24981" y="246283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65460" y="2646669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06562" y="264666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74663" y="2576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990233" y="1551921"/>
            <a:ext cx="1521460" cy="1340485"/>
          </a:xfrm>
          <a:custGeom>
            <a:avLst/>
            <a:gdLst/>
            <a:ahLst/>
            <a:cxnLst/>
            <a:rect l="l" t="t" r="r" b="b"/>
            <a:pathLst>
              <a:path w="1521459" h="1340485">
                <a:moveTo>
                  <a:pt x="31750" y="1162926"/>
                </a:moveTo>
                <a:lnTo>
                  <a:pt x="24650" y="1155827"/>
                </a:lnTo>
                <a:lnTo>
                  <a:pt x="7112" y="1155827"/>
                </a:lnTo>
                <a:lnTo>
                  <a:pt x="0" y="1162926"/>
                </a:lnTo>
                <a:lnTo>
                  <a:pt x="0" y="1180465"/>
                </a:lnTo>
                <a:lnTo>
                  <a:pt x="7112" y="1187577"/>
                </a:lnTo>
                <a:lnTo>
                  <a:pt x="24650" y="1187577"/>
                </a:lnTo>
                <a:lnTo>
                  <a:pt x="31750" y="1180465"/>
                </a:lnTo>
                <a:lnTo>
                  <a:pt x="31750" y="1171702"/>
                </a:lnTo>
                <a:lnTo>
                  <a:pt x="31750" y="1162926"/>
                </a:lnTo>
                <a:close/>
              </a:path>
              <a:path w="1521459" h="1340485">
                <a:moveTo>
                  <a:pt x="62230" y="1110132"/>
                </a:moveTo>
                <a:lnTo>
                  <a:pt x="55130" y="1103033"/>
                </a:lnTo>
                <a:lnTo>
                  <a:pt x="37592" y="1103033"/>
                </a:lnTo>
                <a:lnTo>
                  <a:pt x="30480" y="1110132"/>
                </a:lnTo>
                <a:lnTo>
                  <a:pt x="30480" y="1127671"/>
                </a:lnTo>
                <a:lnTo>
                  <a:pt x="37592" y="1134783"/>
                </a:lnTo>
                <a:lnTo>
                  <a:pt x="55130" y="1134783"/>
                </a:lnTo>
                <a:lnTo>
                  <a:pt x="62230" y="1127671"/>
                </a:lnTo>
                <a:lnTo>
                  <a:pt x="62230" y="1118908"/>
                </a:lnTo>
                <a:lnTo>
                  <a:pt x="62230" y="1110132"/>
                </a:lnTo>
                <a:close/>
              </a:path>
              <a:path w="1521459" h="1340485">
                <a:moveTo>
                  <a:pt x="119900" y="1315605"/>
                </a:moveTo>
                <a:lnTo>
                  <a:pt x="112788" y="1308493"/>
                </a:lnTo>
                <a:lnTo>
                  <a:pt x="95262" y="1308493"/>
                </a:lnTo>
                <a:lnTo>
                  <a:pt x="88150" y="1315605"/>
                </a:lnTo>
                <a:lnTo>
                  <a:pt x="88150" y="1333131"/>
                </a:lnTo>
                <a:lnTo>
                  <a:pt x="95262" y="1340243"/>
                </a:lnTo>
                <a:lnTo>
                  <a:pt x="112788" y="1340243"/>
                </a:lnTo>
                <a:lnTo>
                  <a:pt x="119900" y="1333131"/>
                </a:lnTo>
                <a:lnTo>
                  <a:pt x="119900" y="1324368"/>
                </a:lnTo>
                <a:lnTo>
                  <a:pt x="119900" y="1315605"/>
                </a:lnTo>
                <a:close/>
              </a:path>
              <a:path w="1521459" h="1340485">
                <a:moveTo>
                  <a:pt x="180860" y="1315605"/>
                </a:moveTo>
                <a:lnTo>
                  <a:pt x="173748" y="1308493"/>
                </a:lnTo>
                <a:lnTo>
                  <a:pt x="156222" y="1308493"/>
                </a:lnTo>
                <a:lnTo>
                  <a:pt x="149110" y="1315605"/>
                </a:lnTo>
                <a:lnTo>
                  <a:pt x="149110" y="1333131"/>
                </a:lnTo>
                <a:lnTo>
                  <a:pt x="156222" y="1340243"/>
                </a:lnTo>
                <a:lnTo>
                  <a:pt x="173748" y="1340243"/>
                </a:lnTo>
                <a:lnTo>
                  <a:pt x="180860" y="1333131"/>
                </a:lnTo>
                <a:lnTo>
                  <a:pt x="180860" y="1324368"/>
                </a:lnTo>
                <a:lnTo>
                  <a:pt x="180860" y="1315605"/>
                </a:lnTo>
                <a:close/>
              </a:path>
              <a:path w="1521459" h="1340485">
                <a:moveTo>
                  <a:pt x="438315" y="525322"/>
                </a:moveTo>
                <a:lnTo>
                  <a:pt x="431215" y="518223"/>
                </a:lnTo>
                <a:lnTo>
                  <a:pt x="413677" y="518223"/>
                </a:lnTo>
                <a:lnTo>
                  <a:pt x="406565" y="525322"/>
                </a:lnTo>
                <a:lnTo>
                  <a:pt x="406565" y="542861"/>
                </a:lnTo>
                <a:lnTo>
                  <a:pt x="413677" y="549973"/>
                </a:lnTo>
                <a:lnTo>
                  <a:pt x="431215" y="549973"/>
                </a:lnTo>
                <a:lnTo>
                  <a:pt x="438315" y="542861"/>
                </a:lnTo>
                <a:lnTo>
                  <a:pt x="438315" y="534098"/>
                </a:lnTo>
                <a:lnTo>
                  <a:pt x="438315" y="525322"/>
                </a:lnTo>
                <a:close/>
              </a:path>
              <a:path w="1521459" h="1340485">
                <a:moveTo>
                  <a:pt x="499275" y="525322"/>
                </a:moveTo>
                <a:lnTo>
                  <a:pt x="492175" y="518223"/>
                </a:lnTo>
                <a:lnTo>
                  <a:pt x="474637" y="518223"/>
                </a:lnTo>
                <a:lnTo>
                  <a:pt x="467525" y="525322"/>
                </a:lnTo>
                <a:lnTo>
                  <a:pt x="467525" y="542861"/>
                </a:lnTo>
                <a:lnTo>
                  <a:pt x="474637" y="549973"/>
                </a:lnTo>
                <a:lnTo>
                  <a:pt x="492175" y="549973"/>
                </a:lnTo>
                <a:lnTo>
                  <a:pt x="499275" y="542861"/>
                </a:lnTo>
                <a:lnTo>
                  <a:pt x="499275" y="534098"/>
                </a:lnTo>
                <a:lnTo>
                  <a:pt x="499275" y="525322"/>
                </a:lnTo>
                <a:close/>
              </a:path>
              <a:path w="1521459" h="1340485">
                <a:moveTo>
                  <a:pt x="668591" y="1229512"/>
                </a:moveTo>
                <a:lnTo>
                  <a:pt x="661479" y="1222413"/>
                </a:lnTo>
                <a:lnTo>
                  <a:pt x="643953" y="1222413"/>
                </a:lnTo>
                <a:lnTo>
                  <a:pt x="636841" y="1229512"/>
                </a:lnTo>
                <a:lnTo>
                  <a:pt x="636841" y="1247051"/>
                </a:lnTo>
                <a:lnTo>
                  <a:pt x="643953" y="1254163"/>
                </a:lnTo>
                <a:lnTo>
                  <a:pt x="661479" y="1254163"/>
                </a:lnTo>
                <a:lnTo>
                  <a:pt x="668591" y="1247051"/>
                </a:lnTo>
                <a:lnTo>
                  <a:pt x="668591" y="1238288"/>
                </a:lnTo>
                <a:lnTo>
                  <a:pt x="668591" y="1229512"/>
                </a:lnTo>
                <a:close/>
              </a:path>
              <a:path w="1521459" h="1340485">
                <a:moveTo>
                  <a:pt x="668591" y="59893"/>
                </a:moveTo>
                <a:lnTo>
                  <a:pt x="661479" y="52793"/>
                </a:lnTo>
                <a:lnTo>
                  <a:pt x="643953" y="52793"/>
                </a:lnTo>
                <a:lnTo>
                  <a:pt x="636841" y="59893"/>
                </a:lnTo>
                <a:lnTo>
                  <a:pt x="636841" y="77431"/>
                </a:lnTo>
                <a:lnTo>
                  <a:pt x="643953" y="84543"/>
                </a:lnTo>
                <a:lnTo>
                  <a:pt x="661479" y="84543"/>
                </a:lnTo>
                <a:lnTo>
                  <a:pt x="668591" y="77431"/>
                </a:lnTo>
                <a:lnTo>
                  <a:pt x="668591" y="68668"/>
                </a:lnTo>
                <a:lnTo>
                  <a:pt x="668591" y="59893"/>
                </a:lnTo>
                <a:close/>
              </a:path>
              <a:path w="1521459" h="1340485">
                <a:moveTo>
                  <a:pt x="699071" y="1282306"/>
                </a:moveTo>
                <a:lnTo>
                  <a:pt x="691959" y="1275207"/>
                </a:lnTo>
                <a:lnTo>
                  <a:pt x="674433" y="1275207"/>
                </a:lnTo>
                <a:lnTo>
                  <a:pt x="667321" y="1282306"/>
                </a:lnTo>
                <a:lnTo>
                  <a:pt x="667321" y="1299845"/>
                </a:lnTo>
                <a:lnTo>
                  <a:pt x="674433" y="1306957"/>
                </a:lnTo>
                <a:lnTo>
                  <a:pt x="691959" y="1306957"/>
                </a:lnTo>
                <a:lnTo>
                  <a:pt x="699071" y="1299845"/>
                </a:lnTo>
                <a:lnTo>
                  <a:pt x="699071" y="1291082"/>
                </a:lnTo>
                <a:lnTo>
                  <a:pt x="699071" y="1282306"/>
                </a:lnTo>
                <a:close/>
              </a:path>
              <a:path w="1521459" h="1340485">
                <a:moveTo>
                  <a:pt x="699071" y="7099"/>
                </a:moveTo>
                <a:lnTo>
                  <a:pt x="691959" y="0"/>
                </a:lnTo>
                <a:lnTo>
                  <a:pt x="674433" y="0"/>
                </a:lnTo>
                <a:lnTo>
                  <a:pt x="667321" y="7099"/>
                </a:lnTo>
                <a:lnTo>
                  <a:pt x="667321" y="24638"/>
                </a:lnTo>
                <a:lnTo>
                  <a:pt x="674433" y="31750"/>
                </a:lnTo>
                <a:lnTo>
                  <a:pt x="691959" y="31750"/>
                </a:lnTo>
                <a:lnTo>
                  <a:pt x="699071" y="24638"/>
                </a:lnTo>
                <a:lnTo>
                  <a:pt x="699071" y="15875"/>
                </a:lnTo>
                <a:lnTo>
                  <a:pt x="699071" y="7099"/>
                </a:lnTo>
                <a:close/>
              </a:path>
              <a:path w="1521459" h="1340485">
                <a:moveTo>
                  <a:pt x="875360" y="7099"/>
                </a:moveTo>
                <a:lnTo>
                  <a:pt x="868260" y="0"/>
                </a:lnTo>
                <a:lnTo>
                  <a:pt x="850722" y="0"/>
                </a:lnTo>
                <a:lnTo>
                  <a:pt x="843610" y="7099"/>
                </a:lnTo>
                <a:lnTo>
                  <a:pt x="843610" y="24638"/>
                </a:lnTo>
                <a:lnTo>
                  <a:pt x="850722" y="31750"/>
                </a:lnTo>
                <a:lnTo>
                  <a:pt x="868260" y="31750"/>
                </a:lnTo>
                <a:lnTo>
                  <a:pt x="875360" y="24638"/>
                </a:lnTo>
                <a:lnTo>
                  <a:pt x="875360" y="15875"/>
                </a:lnTo>
                <a:lnTo>
                  <a:pt x="875360" y="7099"/>
                </a:lnTo>
                <a:close/>
              </a:path>
              <a:path w="1521459" h="1340485">
                <a:moveTo>
                  <a:pt x="905840" y="59893"/>
                </a:moveTo>
                <a:lnTo>
                  <a:pt x="898740" y="52793"/>
                </a:lnTo>
                <a:lnTo>
                  <a:pt x="881202" y="52793"/>
                </a:lnTo>
                <a:lnTo>
                  <a:pt x="874090" y="59893"/>
                </a:lnTo>
                <a:lnTo>
                  <a:pt x="874090" y="77431"/>
                </a:lnTo>
                <a:lnTo>
                  <a:pt x="881202" y="84543"/>
                </a:lnTo>
                <a:lnTo>
                  <a:pt x="898740" y="84543"/>
                </a:lnTo>
                <a:lnTo>
                  <a:pt x="905840" y="77431"/>
                </a:lnTo>
                <a:lnTo>
                  <a:pt x="905840" y="68668"/>
                </a:lnTo>
                <a:lnTo>
                  <a:pt x="905840" y="59893"/>
                </a:lnTo>
                <a:close/>
              </a:path>
              <a:path w="1521459" h="1340485">
                <a:moveTo>
                  <a:pt x="1349349" y="468223"/>
                </a:moveTo>
                <a:lnTo>
                  <a:pt x="1342237" y="461124"/>
                </a:lnTo>
                <a:lnTo>
                  <a:pt x="1324711" y="461124"/>
                </a:lnTo>
                <a:lnTo>
                  <a:pt x="1317599" y="468223"/>
                </a:lnTo>
                <a:lnTo>
                  <a:pt x="1317599" y="485762"/>
                </a:lnTo>
                <a:lnTo>
                  <a:pt x="1324711" y="492874"/>
                </a:lnTo>
                <a:lnTo>
                  <a:pt x="1342237" y="492874"/>
                </a:lnTo>
                <a:lnTo>
                  <a:pt x="1349349" y="485762"/>
                </a:lnTo>
                <a:lnTo>
                  <a:pt x="1349349" y="476999"/>
                </a:lnTo>
                <a:lnTo>
                  <a:pt x="1349349" y="468223"/>
                </a:lnTo>
                <a:close/>
              </a:path>
              <a:path w="1521459" h="1340485">
                <a:moveTo>
                  <a:pt x="1392453" y="425119"/>
                </a:moveTo>
                <a:lnTo>
                  <a:pt x="1385341" y="418007"/>
                </a:lnTo>
                <a:lnTo>
                  <a:pt x="1367815" y="418007"/>
                </a:lnTo>
                <a:lnTo>
                  <a:pt x="1360703" y="425119"/>
                </a:lnTo>
                <a:lnTo>
                  <a:pt x="1360703" y="442658"/>
                </a:lnTo>
                <a:lnTo>
                  <a:pt x="1367815" y="449757"/>
                </a:lnTo>
                <a:lnTo>
                  <a:pt x="1385341" y="449757"/>
                </a:lnTo>
                <a:lnTo>
                  <a:pt x="1392453" y="442658"/>
                </a:lnTo>
                <a:lnTo>
                  <a:pt x="1392453" y="433882"/>
                </a:lnTo>
                <a:lnTo>
                  <a:pt x="1392453" y="425119"/>
                </a:lnTo>
                <a:close/>
              </a:path>
              <a:path w="1521459" h="1340485">
                <a:moveTo>
                  <a:pt x="1463217" y="1248956"/>
                </a:moveTo>
                <a:lnTo>
                  <a:pt x="1456105" y="1241844"/>
                </a:lnTo>
                <a:lnTo>
                  <a:pt x="1438579" y="1241844"/>
                </a:lnTo>
                <a:lnTo>
                  <a:pt x="1431467" y="1248956"/>
                </a:lnTo>
                <a:lnTo>
                  <a:pt x="1431467" y="1266494"/>
                </a:lnTo>
                <a:lnTo>
                  <a:pt x="1438579" y="1273594"/>
                </a:lnTo>
                <a:lnTo>
                  <a:pt x="1456105" y="1273594"/>
                </a:lnTo>
                <a:lnTo>
                  <a:pt x="1463217" y="1266494"/>
                </a:lnTo>
                <a:lnTo>
                  <a:pt x="1463217" y="1257719"/>
                </a:lnTo>
                <a:lnTo>
                  <a:pt x="1463217" y="1248956"/>
                </a:lnTo>
                <a:close/>
              </a:path>
              <a:path w="1521459" h="1340485">
                <a:moveTo>
                  <a:pt x="1521193" y="1230122"/>
                </a:moveTo>
                <a:lnTo>
                  <a:pt x="1514081" y="1223010"/>
                </a:lnTo>
                <a:lnTo>
                  <a:pt x="1496555" y="1223010"/>
                </a:lnTo>
                <a:lnTo>
                  <a:pt x="1489443" y="1230122"/>
                </a:lnTo>
                <a:lnTo>
                  <a:pt x="1489443" y="1247660"/>
                </a:lnTo>
                <a:lnTo>
                  <a:pt x="1496555" y="1254760"/>
                </a:lnTo>
                <a:lnTo>
                  <a:pt x="1514081" y="1254760"/>
                </a:lnTo>
                <a:lnTo>
                  <a:pt x="1521193" y="1247660"/>
                </a:lnTo>
                <a:lnTo>
                  <a:pt x="1521193" y="1238885"/>
                </a:lnTo>
                <a:lnTo>
                  <a:pt x="1521193" y="1230122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719071" y="1706841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90777" y="2278993"/>
            <a:ext cx="365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42570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63896" y="2954560"/>
            <a:ext cx="608330" cy="51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080" indent="-243204">
              <a:lnSpc>
                <a:spcPct val="132700"/>
              </a:lnSpc>
              <a:spcBef>
                <a:spcPts val="100"/>
              </a:spcBef>
              <a:tabLst>
                <a:tab pos="242570" algn="l"/>
                <a:tab pos="485140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 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23365" y="3495275"/>
            <a:ext cx="3335020" cy="33591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Valence electrons: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74 available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58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29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bonds +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16 in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r>
              <a:rPr sz="8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111111"/>
                </a:solidFill>
                <a:latin typeface="Arial"/>
                <a:cs typeface="Arial"/>
              </a:rPr>
              <a:t>lone </a:t>
            </a:r>
            <a:r>
              <a:rPr sz="850" spc="-10" dirty="0">
                <a:solidFill>
                  <a:srgbClr val="111111"/>
                </a:solidFill>
                <a:latin typeface="Arial"/>
                <a:cs typeface="Arial"/>
              </a:rPr>
              <a:t>pairs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Octet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N,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duet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H;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2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3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needed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802759" y="3668240"/>
            <a:ext cx="421068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Dots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=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lone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pairs.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Every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is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shown.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atoms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are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neutral: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no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formal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E6B79"/>
                </a:solidFill>
                <a:latin typeface="Arial"/>
                <a:cs typeface="Arial"/>
              </a:rPr>
              <a:t>charges</a:t>
            </a:r>
            <a:r>
              <a:rPr sz="800" spc="5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E6B79"/>
                </a:solidFill>
                <a:latin typeface="Arial"/>
                <a:cs typeface="Arial"/>
              </a:rPr>
              <a:t>required.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0" y="3959069"/>
            <a:ext cx="5032375" cy="2907665"/>
            <a:chOff x="274320" y="3959069"/>
            <a:chExt cx="5032375" cy="2907665"/>
          </a:xfrm>
        </p:grpSpPr>
        <p:sp>
          <p:nvSpPr>
            <p:cNvPr id="12" name="object 12"/>
            <p:cNvSpPr/>
            <p:nvPr/>
          </p:nvSpPr>
          <p:spPr>
            <a:xfrm>
              <a:off x="27940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40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900" b="1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CONDENSED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STRUCTURAL</a:t>
            </a:r>
            <a:r>
              <a:rPr sz="9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5370" y="3959069"/>
            <a:ext cx="5032375" cy="2907665"/>
            <a:chOff x="5385370" y="3959069"/>
            <a:chExt cx="5032375" cy="2907665"/>
          </a:xfrm>
        </p:grpSpPr>
        <p:sp>
          <p:nvSpPr>
            <p:cNvPr id="16" name="object 16"/>
            <p:cNvSpPr/>
            <p:nvPr/>
          </p:nvSpPr>
          <p:spPr>
            <a:xfrm>
              <a:off x="5390450" y="4192749"/>
              <a:ext cx="5022215" cy="2668905"/>
            </a:xfrm>
            <a:custGeom>
              <a:avLst/>
              <a:gdLst/>
              <a:ahLst/>
              <a:cxnLst/>
              <a:rect l="l" t="t" r="r" b="b"/>
              <a:pathLst>
                <a:path w="5022215" h="2668904">
                  <a:moveTo>
                    <a:pt x="0" y="2668750"/>
                  </a:moveTo>
                  <a:lnTo>
                    <a:pt x="5022150" y="26687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6687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90450" y="3964149"/>
              <a:ext cx="5022215" cy="2897505"/>
            </a:xfrm>
            <a:custGeom>
              <a:avLst/>
              <a:gdLst/>
              <a:ahLst/>
              <a:cxnLst/>
              <a:rect l="l" t="t" r="r" b="b"/>
              <a:pathLst>
                <a:path w="5022215" h="2897504">
                  <a:moveTo>
                    <a:pt x="0" y="2897350"/>
                  </a:moveTo>
                  <a:lnTo>
                    <a:pt x="5022150" y="2897350"/>
                  </a:lnTo>
                  <a:lnTo>
                    <a:pt x="5022150" y="0"/>
                  </a:lnTo>
                  <a:lnTo>
                    <a:pt x="0" y="0"/>
                  </a:lnTo>
                  <a:lnTo>
                    <a:pt x="0" y="2897350"/>
                  </a:lnTo>
                  <a:close/>
                </a:path>
              </a:pathLst>
            </a:custGeom>
            <a:ln w="10160">
              <a:solidFill>
                <a:srgbClr val="B8C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90450" y="3964149"/>
            <a:ext cx="5022215" cy="228600"/>
          </a:xfrm>
          <a:prstGeom prst="rect">
            <a:avLst/>
          </a:prstGeom>
          <a:solidFill>
            <a:srgbClr val="1F4D7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900" b="1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BOND-LINE</a:t>
            </a:r>
            <a:r>
              <a:rPr sz="9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9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(KETCHER)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3038" y="5063399"/>
            <a:ext cx="456819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50" spc="-10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1425" spc="-15" baseline="-17543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1450" spc="-10" dirty="0">
                <a:solidFill>
                  <a:srgbClr val="111111"/>
                </a:solidFill>
                <a:latin typeface="Arial"/>
                <a:cs typeface="Arial"/>
              </a:rPr>
              <a:t>–N</a:t>
            </a:r>
            <a:r>
              <a:rPr sz="1425" spc="-15" baseline="35087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sz="1450" spc="-10" dirty="0">
                <a:solidFill>
                  <a:srgbClr val="111111"/>
                </a:solidFill>
                <a:latin typeface="Arial"/>
                <a:cs typeface="Arial"/>
              </a:rPr>
              <a:t>–CH=N–C</a:t>
            </a:r>
            <a:r>
              <a:rPr sz="1425" spc="-15" baseline="35087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1450" spc="-10" dirty="0">
                <a:solidFill>
                  <a:srgbClr val="111111"/>
                </a:solidFill>
                <a:latin typeface="Arial"/>
                <a:cs typeface="Arial"/>
              </a:rPr>
              <a:t>=C</a:t>
            </a:r>
            <a:r>
              <a:rPr sz="1425" spc="-15" baseline="35087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sz="1450" spc="-10" dirty="0">
                <a:solidFill>
                  <a:srgbClr val="111111"/>
                </a:solidFill>
                <a:latin typeface="Arial"/>
                <a:cs typeface="Arial"/>
              </a:rPr>
              <a:t>–C(=O)–N(CH</a:t>
            </a:r>
            <a:r>
              <a:rPr sz="1425" spc="-15" baseline="-17543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sz="1450" spc="-10" dirty="0">
                <a:solidFill>
                  <a:srgbClr val="111111"/>
                </a:solidFill>
                <a:latin typeface="Arial"/>
                <a:cs typeface="Arial"/>
              </a:rPr>
              <a:t>)–C(=O)–N</a:t>
            </a:r>
            <a:r>
              <a:rPr sz="1425" spc="-15" baseline="35087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1450" spc="-10" dirty="0">
                <a:solidFill>
                  <a:srgbClr val="111111"/>
                </a:solidFill>
                <a:latin typeface="Arial"/>
                <a:cs typeface="Arial"/>
              </a:rPr>
              <a:t>–</a:t>
            </a:r>
            <a:r>
              <a:rPr sz="1450" spc="-25" dirty="0">
                <a:solidFill>
                  <a:srgbClr val="111111"/>
                </a:solidFill>
                <a:latin typeface="Arial"/>
                <a:cs typeface="Arial"/>
              </a:rPr>
              <a:t>CH</a:t>
            </a:r>
            <a:r>
              <a:rPr sz="1425" spc="-37" baseline="-17543" dirty="0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1425" baseline="-17543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28249" y="6134043"/>
            <a:ext cx="4537710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0710" marR="30480" indent="-575945">
              <a:lnSpc>
                <a:spcPct val="107800"/>
              </a:lnSpc>
              <a:spcBef>
                <a:spcPts val="95"/>
              </a:spcBef>
            </a:pP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Fused rings are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written as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one path.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The superscript digits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mark ring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closures: the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two </a:t>
            </a:r>
            <a:r>
              <a:rPr sz="850" spc="-10" dirty="0">
                <a:solidFill>
                  <a:srgbClr val="5E6B79"/>
                </a:solidFill>
                <a:latin typeface="Arial"/>
                <a:cs typeface="Arial"/>
              </a:rPr>
              <a:t>atoms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carrying the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same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digit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are bonded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to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each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other (N</a:t>
            </a:r>
            <a:r>
              <a:rPr sz="825" baseline="35353" dirty="0">
                <a:solidFill>
                  <a:srgbClr val="5E6B79"/>
                </a:solidFill>
                <a:latin typeface="Arial"/>
                <a:cs typeface="Arial"/>
              </a:rPr>
              <a:t>1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–C</a:t>
            </a:r>
            <a:r>
              <a:rPr sz="825" baseline="35353" dirty="0">
                <a:solidFill>
                  <a:srgbClr val="5E6B79"/>
                </a:solidFill>
                <a:latin typeface="Arial"/>
                <a:cs typeface="Arial"/>
              </a:rPr>
              <a:t>1</a:t>
            </a:r>
            <a:r>
              <a:rPr sz="825" spc="127" baseline="35353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and</a:t>
            </a:r>
            <a:r>
              <a:rPr sz="850" spc="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C</a:t>
            </a:r>
            <a:r>
              <a:rPr sz="825" baseline="35353" dirty="0">
                <a:solidFill>
                  <a:srgbClr val="5E6B79"/>
                </a:solidFill>
                <a:latin typeface="Arial"/>
                <a:cs typeface="Arial"/>
              </a:rPr>
              <a:t>2</a:t>
            </a:r>
            <a:r>
              <a:rPr sz="850" dirty="0">
                <a:solidFill>
                  <a:srgbClr val="5E6B79"/>
                </a:solidFill>
                <a:latin typeface="Arial"/>
                <a:cs typeface="Arial"/>
              </a:rPr>
              <a:t>–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N</a:t>
            </a:r>
            <a:r>
              <a:rPr sz="825" spc="-30" baseline="35353" dirty="0">
                <a:solidFill>
                  <a:srgbClr val="5E6B79"/>
                </a:solidFill>
                <a:latin typeface="Arial"/>
                <a:cs typeface="Arial"/>
              </a:rPr>
              <a:t>2</a:t>
            </a:r>
            <a:r>
              <a:rPr sz="850" spc="-20" dirty="0">
                <a:solidFill>
                  <a:srgbClr val="5E6B79"/>
                </a:solidFill>
                <a:latin typeface="Arial"/>
                <a:cs typeface="Arial"/>
              </a:rPr>
              <a:t>).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39499" y="6654489"/>
            <a:ext cx="4725035" cy="139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800" dirty="0">
                <a:solidFill>
                  <a:srgbClr val="5E6B79"/>
                </a:solidFill>
                <a:latin typeface="Arial"/>
                <a:cs typeface="Arial"/>
              </a:rPr>
              <a:t>Drawn in Ketcher.</a:t>
            </a:r>
          </a:p>
        </p:txBody>
      </p:sp>
      <p:grpSp>
        <p:nvGrpSpPr>
          <p:cNvPr id="51" name="object 51"/>
          <p:cNvGrpSpPr/>
          <p:nvPr/>
        </p:nvGrpSpPr>
        <p:grpSpPr>
          <a:xfrm>
            <a:off x="279400" y="6950399"/>
            <a:ext cx="10133330" cy="330200"/>
            <a:chOff x="279400" y="6950399"/>
            <a:chExt cx="10133330" cy="330200"/>
          </a:xfrm>
        </p:grpSpPr>
        <p:sp>
          <p:nvSpPr>
            <p:cNvPr id="52" name="object 52"/>
            <p:cNvSpPr/>
            <p:nvPr/>
          </p:nvSpPr>
          <p:spPr>
            <a:xfrm>
              <a:off x="279400" y="6950399"/>
              <a:ext cx="10133330" cy="330200"/>
            </a:xfrm>
            <a:custGeom>
              <a:avLst/>
              <a:gdLst/>
              <a:ahLst/>
              <a:cxnLst/>
              <a:rect l="l" t="t" r="r" b="b"/>
              <a:pathLst>
                <a:path w="10133330" h="330200">
                  <a:moveTo>
                    <a:pt x="10133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0133200" y="330200"/>
                  </a:lnTo>
                  <a:lnTo>
                    <a:pt x="1013320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82600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10641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04687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074915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5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468654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96696" y="7078212"/>
              <a:ext cx="84455" cy="67945"/>
            </a:xfrm>
            <a:custGeom>
              <a:avLst/>
              <a:gdLst/>
              <a:ahLst/>
              <a:cxnLst/>
              <a:rect l="l" t="t" r="r" b="b"/>
              <a:pathLst>
                <a:path w="84454" h="67945">
                  <a:moveTo>
                    <a:pt x="0" y="34747"/>
                  </a:moveTo>
                  <a:lnTo>
                    <a:pt x="28956" y="67564"/>
                  </a:lnTo>
                  <a:lnTo>
                    <a:pt x="83972" y="0"/>
                  </a:lnTo>
                </a:path>
              </a:pathLst>
            </a:custGeom>
            <a:ln w="15443">
              <a:solidFill>
                <a:srgbClr val="7BDF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70256" y="7051999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127000"/>
                  </a:moveTo>
                  <a:lnTo>
                    <a:pt x="127000" y="1270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ln w="11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atom</a:t>
            </a:r>
            <a:r>
              <a:rPr spc="55" dirty="0"/>
              <a:t> </a:t>
            </a:r>
            <a:r>
              <a:rPr dirty="0"/>
              <a:t>count</a:t>
            </a:r>
            <a:r>
              <a:rPr spc="60" dirty="0"/>
              <a:t> </a:t>
            </a:r>
            <a:r>
              <a:rPr spc="-10" dirty="0"/>
              <a:t>verified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2237374" y="7042266"/>
            <a:ext cx="914400" cy="1504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valence</a:t>
            </a:r>
            <a:r>
              <a:rPr sz="8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checked</a:t>
            </a:r>
            <a:endParaRPr sz="850">
              <a:latin typeface="Arial"/>
              <a:cs typeface="Arial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bond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spc="-10" dirty="0"/>
              <a:t>checked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5260756" y="7042266"/>
            <a:ext cx="2292985" cy="1365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same</a:t>
            </a:r>
            <a:r>
              <a:rPr sz="850" b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endParaRPr sz="8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841415" y="7045474"/>
            <a:ext cx="2406650" cy="1435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CHEM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13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Asynchronous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Activity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No.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2</a:t>
            </a:r>
            <a:r>
              <a:rPr sz="800" spc="29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|</a:t>
            </a:r>
            <a:r>
              <a:rPr sz="800" spc="30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r>
              <a:rPr sz="800" spc="30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D4E2F2"/>
                </a:solidFill>
                <a:latin typeface="Arial"/>
                <a:cs typeface="Arial"/>
              </a:rPr>
              <a:t>/</a:t>
            </a:r>
            <a:r>
              <a:rPr sz="800" spc="35" dirty="0">
                <a:solidFill>
                  <a:srgbClr val="D4E2F2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D4E2F2"/>
                </a:solidFill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66" name="object 49">
            <a:extLst>
              <a:ext uri="{FF2B5EF4-FFF2-40B4-BE49-F238E27FC236}">
                <a16:creationId xmlns:a16="http://schemas.microsoft.com/office/drawing/2014/main" id="{5C2A2C6E-3793-9A29-3253-7357D1D4F272}"/>
              </a:ext>
            </a:extLst>
          </p:cNvPr>
          <p:cNvSpPr/>
          <p:nvPr/>
        </p:nvSpPr>
        <p:spPr>
          <a:xfrm>
            <a:off x="5096091" y="7078211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 w="15443">
            <a:solidFill>
              <a:srgbClr val="7BDF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65B89A0B-B65C-DB40-C3A9-BE58CBF6B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426" y="4625031"/>
            <a:ext cx="1657350" cy="165735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2058</Words>
  <Application>Microsoft Office PowerPoint</Application>
  <PresentationFormat>Custom</PresentationFormat>
  <Paragraphs>513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Zyrus Balasta</dc:creator>
  <cp:lastModifiedBy>Zyrus Balasta</cp:lastModifiedBy>
  <cp:revision>2</cp:revision>
  <dcterms:created xsi:type="dcterms:W3CDTF">2026-10-15T03:56:33Z</dcterms:created>
  <dcterms:modified xsi:type="dcterms:W3CDTF">2026-10-15T05:34:52Z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2026-10-15T00:00:00Z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2026-10-15T00:00:00Z</vt:filetime>
  </property>
  <property fmtid="{D5CDD505-2E9C-101B-9397-08002B2CF9AE}" pid="6" name="Producer">
    <vt:lpwstr>ReportLab PDF Library - (opensource)</vt:lpwstr>
  </property>
</Properties>
</file>